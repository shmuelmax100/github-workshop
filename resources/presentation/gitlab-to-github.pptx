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4" y="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91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the audience. Frame the session: this isn't a tools comparison contest — it's a practical migration of muscle memory. Most people in the room already know how to ship software; today is about translating habits, not relearning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expectations. Most pain in a migration comes from terminology drift and slightly different defaults — not from missing capabilities. We'll prioritize the daily loop: branch, push, PR, review,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 vs MR is the single most-used term — get this one wrong in a meeting and it's a giveaway. "Organization" is closer to a top-level group; nested groups don't map 1:1.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 Actions lives in a folder, not one big config — multiple workflows are first-class. Self-hosted runners port over. Gists are slightly more public than Snippets — careful with secrets.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Neither model is "better" — but if you arrive expecting one settings page to rule them all, you'll be looking for a while. GitHub assumes you'll compose Actions, Apps, and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laugh and a reset. Expect to call PRs "MRs" for two weeks. That's normal. The team will gently correct you, like a co-worker pointing at a misspelled label on a stapler.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 is the contract. Future-you reading `git log` in 18 months will thank present-you for a good description. Compliance and audit live here too — it's not just engineering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good title and a 4-line description save hours over a project's life. `Closes #123` is the small magic phrase that wires PRs back to issues automatically — teach it once, use it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Suggested changes are underused — they're the fastest path to "fix and move on" for nits. Resolve threads rather than letting the PR turn into a haunted comment graveyard.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Pick one merge strategy as a team and stick with it — most teams land on squash-merge. Auto-merge is the unsung hero for slow CI: approve, enable auto-merge, walk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Draft PRs replace the GitLab "WIP:" prefix convention. CI runs early, so you find problems while you still remember the code. Encourage teams to open drafts liberally.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Encode team standards once and benefit forever. Keep it short — five fields max. If the template is so long that people delete it, it has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Small PRs are reviewed faster, merged faster, broken less often. The "decide in a call" rule prevents the dreaded 80-comment philosophical PR. Always summarize the outcome back in the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Cue the laugh. Then segue: there's a real reason small PRs win — review attention drops off a cliff after a few hundred lines. Studies say it; lived experience confirms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CLI is the productivity unlock most people miss in week one. It removes a dozen context switches per day. JSON output makes it composable with `jq`. Mention SSO if your org uses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these if time allows. `gh pr create --fill` uses the latest commit message — perfect for the 90% case. `gh run watch` replaces a dozen browser refreshes.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Light beat. Then the serious point: CLI fluency compounds. Ten seconds saved per PR, fifty PRs a week, and suddenly you have your Friday afternoon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single most important quality control on GitHub. If you do nothing else after this session, turn on branch protection for `main`. "Require branches up to date" prevents semantic merge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"Include administrators" separates a policy from a suggestion. If admins can bypass, the protection is theater. Dismissing stale approvals prevents the "approved at line 10, then 400 lines added"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CODEOWNERS ports over almost verbatim. Keep it accurate — stale owners are worse than no owners because they create review bottlenecks. Review quarterly.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Treat repos like products: born, grow, retire. Topics make repos findable in org-wide search. Archiving signals to future engineers that this code isn't a maintenance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checkboxes, one afternoon, years of cleanliness. "Require conversation resolution" prevents the "merged with 14 unresolved comments" anti-pattern. Use rulesets to apply org-wide.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Light line. Then frame the next stretch: protections aren't about distrust, they're about not having to be a hero on a Friday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`t` shortcut is a crowd-pleaser. Search qualifiers are the difference between "I'll grep my laptop" and "I'll find it in three seconds." Save `is:open is:pr review-requested:@me` as your daily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`git blame` is poorly named — it's really `git archaeology`. Blame → commit → PR → original discussion gets you from "why is this here?" to the design conversation in three clicks.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small reframe. Encourage the team to use blame as a learning tool. The author of that weird line probably had a reason — go read the PR before you "fix"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"so what" slide. CLI for speed, draft PRs for early feedback, suggestions for fast review, auto-merge for unattended completion, branch protection as the safety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the failure modes. Especially "approve to clear the queue" — well-intentioned and quietly corrosive. Cultures form around what leaders do under pressure, not what's written in the wiki.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"do this Monday" list. None of these takes more than an hour; together they prevent the most common migration regressions. For 50+ repos, use a repository ruleset or a template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floor. Common questions: SSO/PAT scopes, self-hosted runners, monorepo CODEOWNERS strategies, org-wide rulesets. Thank the audience and offer async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1B4B"/>
              </a:gs>
              <a:gs pos="100000">
                <a:srgbClr val="0F172A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3108960" cy="3108960"/>
          </a:xfrm>
          <a:prstGeom prst="ellipse">
            <a:avLst/>
          </a:prstGeom>
          <a:solidFill>
            <a:srgbClr val="8B5CF6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19" y="4663440"/>
            <a:ext cx="2377440" cy="2377440"/>
          </a:xfrm>
          <a:prstGeom prst="ellipse">
            <a:avLst/>
          </a:prstGeom>
          <a:solidFill>
            <a:srgbClr val="06B6D4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0" y="5120640"/>
            <a:ext cx="1828800" cy="1828800"/>
          </a:xfrm>
          <a:prstGeom prst="ellipse">
            <a:avLst/>
          </a:prstGeom>
          <a:solidFill>
            <a:srgbClr val="F472B6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0" y="182880"/>
            <a:ext cx="1097280" cy="1097280"/>
          </a:xfrm>
          <a:prstGeom prst="ellipse">
            <a:avLst/>
          </a:prstGeom>
          <a:solidFill>
            <a:srgbClr val="F59E0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411480" cy="2377440"/>
          </a:xfrm>
          <a:prstGeom prst="rect">
            <a:avLst/>
          </a:prstGeom>
          <a:gradFill rotWithShape="1">
            <a:gsLst>
              <a:gs pos="0">
                <a:srgbClr val="F472B6"/>
              </a:gs>
              <a:gs pos="100000">
                <a:srgbClr val="8B5CF6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300" b="1" i="0">
                <a:solidFill>
                  <a:srgbClr val="F8B4D9"/>
                </a:solidFill>
                <a:latin typeface="Segoe UI"/>
              </a:rPr>
              <a:t>WORKSHOP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1024128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Segoe UI Black"/>
              </a:rPr>
              <a:t>From GitLab to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840480"/>
            <a:ext cx="102412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800" b="0" i="1">
                <a:solidFill>
                  <a:srgbClr val="CBD5E1"/>
                </a:solidFill>
                <a:latin typeface="Segoe UI Light"/>
              </a:rPr>
              <a:t>Daily Workflows, PRs, and Repo Lifecycle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84632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Pull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84632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gh CLI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484632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Branch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84632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CODEOWNERS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484632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Segoe UI Semibold"/>
              </a:rPr>
              <a:t>UI 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312E8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312E81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4F46E5"/>
                </a:solidFill>
                <a:latin typeface="Segoe UI Black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INTRO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Why this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957834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527173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86639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900" b="0">
                <a:solidFill>
                  <a:srgbClr val="0F172A"/>
                </a:solidFill>
                <a:latin typeface="Segoe UI"/>
              </a:rPr>
              <a:t>You already know Git — the platform changes, not the fundamentals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16402"/>
            <a:ext cx="10607040" cy="957834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594735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262122"/>
            <a:ext cx="9692640" cy="86639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900" b="0">
                <a:solidFill>
                  <a:srgbClr val="0F172A"/>
                </a:solidFill>
                <a:latin typeface="Segoe UI"/>
              </a:rPr>
              <a:t>GitHub vocabulary differs in places (MR vs PR, Group vs Org)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83964"/>
            <a:ext cx="10607040" cy="957834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662297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4329684"/>
            <a:ext cx="9692640" cy="86639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900" b="0">
                <a:solidFill>
                  <a:srgbClr val="0F172A"/>
                </a:solidFill>
                <a:latin typeface="Segoe UI"/>
              </a:rPr>
              <a:t>Workflow defaults shift: protections, reviews,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351526"/>
            <a:ext cx="10607040" cy="957834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5729859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5397246"/>
            <a:ext cx="9692640" cy="86639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900" b="0">
                <a:solidFill>
                  <a:srgbClr val="0F172A"/>
                </a:solidFill>
                <a:latin typeface="Segoe UI"/>
              </a:rPr>
              <a:t>We focus on the 20% you'll use 80% of the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312E8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312E81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4F46E5"/>
                </a:solidFill>
                <a:latin typeface="Segoe UI Black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INTRO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Terminology Map (Part 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Merge Request → Pull Request (PR)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Project → Repository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Group → Organization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Protected Branches → Branch Protection Rules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CI/CD Variables → Secrets &amp; Variables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312E8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312E81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4F46E5"/>
                </a:solidFill>
                <a:latin typeface="Segoe UI Black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INTRO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Terminology Map (Part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`.gitlab-ci.yml` → `.github/workflows/*.yml`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Runners → Runners (same word, similar model)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Snippets → Gists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Container Registry → GHCR (`ghcr.io`)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Issue Board → GitHub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4F46E5"/>
              </a:gs>
              <a:gs pos="100000">
                <a:srgbClr val="312E81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4F46E5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312E81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4F46E5"/>
                </a:solidFill>
                <a:latin typeface="Segoe UI Black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INTRO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Mental Model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GitLab leans </a:t>
            </a:r>
            <a:r>
              <a:rPr sz="1700" b="1">
                <a:solidFill>
                  <a:srgbClr val="0F172A"/>
                </a:solidFill>
                <a:latin typeface="Segoe UI"/>
              </a:rPr>
              <a:t>monolithic</a:t>
            </a:r>
            <a:r>
              <a:rPr sz="1700" b="0">
                <a:solidFill>
                  <a:srgbClr val="0F172A"/>
                </a:solidFill>
                <a:latin typeface="Segoe UI"/>
              </a:rPr>
              <a:t>: one app, one config, one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GitHub leans </a:t>
            </a:r>
            <a:r>
              <a:rPr sz="1700" b="1">
                <a:solidFill>
                  <a:srgbClr val="0F172A"/>
                </a:solidFill>
                <a:latin typeface="Segoe UI"/>
              </a:rPr>
              <a:t>composable</a:t>
            </a:r>
            <a:r>
              <a:rPr sz="1700" b="0">
                <a:solidFill>
                  <a:srgbClr val="0F172A"/>
                </a:solidFill>
                <a:latin typeface="Segoe UI"/>
              </a:rPr>
              <a:t>: Actions, Apps, CLI,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Expect more "small pieces, loosely joined"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More Marketplace, fewer built-ins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4F46E5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Net effect: more flexibility, slightly more assembly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97316"/>
              </a:gs>
              <a:gs pos="100000">
                <a:srgbClr val="BE185D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79" y="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49840" y="548640"/>
            <a:ext cx="1645920" cy="16459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0" y="4297680"/>
            <a:ext cx="3108960" cy="310896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82879" y="5577840"/>
            <a:ext cx="1280160" cy="128016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0" y="91439"/>
            <a:ext cx="914400" cy="9144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INTERLUDE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"It's a pull request, Michael."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 i="1">
                <a:solidFill>
                  <a:srgbClr val="FBCFE8"/>
                </a:solidFill>
                <a:latin typeface="Segoe UI Light"/>
              </a:rPr>
              <a:t>— every reviewer in week one, channeling Jim Halpert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 i="0">
                <a:solidFill>
                  <a:srgbClr val="FFE4E6"/>
                </a:solidFill>
                <a:latin typeface="Segoe UI"/>
              </a:rPr>
              <a:t>TRANSLATION GLITCHES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FECDD3"/>
                </a:solidFill>
                <a:latin typeface="Segoe UI"/>
              </a:rPr>
              <a:t>INTERLUDE   ·   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E3A8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E3A8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2563EB"/>
                </a:solidFill>
                <a:latin typeface="Segoe UI Black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The Pull Request (a love story)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 PR is a </a:t>
            </a:r>
            <a:r>
              <a:rPr sz="1700" b="1">
                <a:solidFill>
                  <a:srgbClr val="0F172A"/>
                </a:solidFill>
                <a:latin typeface="Segoe UI"/>
              </a:rPr>
              <a:t>proposal</a:t>
            </a:r>
            <a:r>
              <a:rPr sz="1700" b="0">
                <a:solidFill>
                  <a:srgbClr val="0F172A"/>
                </a:solidFill>
                <a:latin typeface="Segoe UI"/>
              </a:rPr>
              <a:t>, not just a diff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It carries: code, conversation, checks, approvals,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Lives from `git push` to `merge` (or `close`)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It's the unit of change — and the unit of audit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Treat the description like a mini design doc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E3A8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E3A8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2563EB"/>
                </a:solidFill>
                <a:latin typeface="Segoe UI Black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PR Lifecycle: Create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Branch from `main` → push → "Compare &amp; pull request"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Title: imperative mood ("Add retry to webhook client")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Description: </a:t>
            </a:r>
            <a:r>
              <a:rPr sz="1700" b="1">
                <a:solidFill>
                  <a:srgbClr val="0F172A"/>
                </a:solidFill>
                <a:latin typeface="Segoe UI"/>
              </a:rPr>
              <a:t>what</a:t>
            </a:r>
            <a:r>
              <a:rPr sz="1700" b="0">
                <a:solidFill>
                  <a:srgbClr val="0F172A"/>
                </a:solidFill>
                <a:latin typeface="Segoe UI"/>
              </a:rPr>
              <a:t>, </a:t>
            </a:r>
            <a:r>
              <a:rPr sz="1700" b="1">
                <a:solidFill>
                  <a:srgbClr val="0F172A"/>
                </a:solidFill>
                <a:latin typeface="Segoe UI"/>
              </a:rPr>
              <a:t>why</a:t>
            </a:r>
            <a:r>
              <a:rPr sz="1700" b="0">
                <a:solidFill>
                  <a:srgbClr val="0F172A"/>
                </a:solidFill>
                <a:latin typeface="Segoe UI"/>
              </a:rPr>
              <a:t>, </a:t>
            </a:r>
            <a:r>
              <a:rPr sz="1700" b="1">
                <a:solidFill>
                  <a:srgbClr val="0F172A"/>
                </a:solidFill>
                <a:latin typeface="Segoe UI"/>
              </a:rPr>
              <a:t>how to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Link issues with `Closes #123` for auto-close on merge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Pick reviewers and labels early, not last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E3A8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E3A8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2563EB"/>
                </a:solidFill>
                <a:latin typeface="Segoe UI Black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PR Lifecycle: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Reviewers leave </a:t>
            </a:r>
            <a:r>
              <a:rPr sz="1700" b="1">
                <a:solidFill>
                  <a:srgbClr val="0F172A"/>
                </a:solidFill>
                <a:latin typeface="Segoe UI"/>
              </a:rPr>
              <a:t>comments</a:t>
            </a:r>
            <a:r>
              <a:rPr sz="1700" b="0">
                <a:solidFill>
                  <a:srgbClr val="0F172A"/>
                </a:solidFill>
                <a:latin typeface="Segoe UI"/>
              </a:rPr>
              <a:t>, </a:t>
            </a:r>
            <a:r>
              <a:rPr sz="1700" b="1">
                <a:solidFill>
                  <a:srgbClr val="0F172A"/>
                </a:solidFill>
                <a:latin typeface="Segoe UI"/>
              </a:rPr>
              <a:t>suggestions</a:t>
            </a:r>
            <a:r>
              <a:rPr sz="1700" b="0">
                <a:solidFill>
                  <a:srgbClr val="0F172A"/>
                </a:solidFill>
                <a:latin typeface="Segoe UI"/>
              </a:rPr>
              <a:t>, or </a:t>
            </a:r>
            <a:r>
              <a:rPr sz="1700" b="1">
                <a:solidFill>
                  <a:srgbClr val="0F172A"/>
                </a:solidFill>
                <a:latin typeface="Segoe UI"/>
              </a:rPr>
              <a:t>approvals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Use </a:t>
            </a:r>
            <a:r>
              <a:rPr sz="1700" b="1">
                <a:solidFill>
                  <a:srgbClr val="0F172A"/>
                </a:solidFill>
                <a:latin typeface="Segoe UI"/>
              </a:rPr>
              <a:t>suggested changes</a:t>
            </a:r>
            <a:r>
              <a:rPr sz="1700" b="0">
                <a:solidFill>
                  <a:srgbClr val="0F172A"/>
                </a:solidFill>
                <a:latin typeface="Segoe UI"/>
              </a:rPr>
              <a:t> for small fixes — author commits with one 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Resolve threads when addressed; keep the conversation tidy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Re-request review after meaningful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Reviews are about the code, not the 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E3A8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E3A8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2563EB"/>
                </a:solidFill>
                <a:latin typeface="Segoe UI Black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PR Lifecycle: Approve &amp; Merge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Approvals satisfy branch protection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Merge strategies: </a:t>
            </a:r>
            <a:r>
              <a:rPr sz="1700" b="1">
                <a:solidFill>
                  <a:srgbClr val="0F172A"/>
                </a:solidFill>
                <a:latin typeface="Segoe UI"/>
              </a:rPr>
              <a:t>merge commit</a:t>
            </a:r>
            <a:r>
              <a:rPr sz="1700" b="0">
                <a:solidFill>
                  <a:srgbClr val="0F172A"/>
                </a:solidFill>
                <a:latin typeface="Segoe UI"/>
              </a:rPr>
              <a:t>, </a:t>
            </a:r>
            <a:r>
              <a:rPr sz="1700" b="1">
                <a:solidFill>
                  <a:srgbClr val="0F172A"/>
                </a:solidFill>
                <a:latin typeface="Segoe UI"/>
              </a:rPr>
              <a:t>squash</a:t>
            </a:r>
            <a:r>
              <a:rPr sz="1700" b="0">
                <a:solidFill>
                  <a:srgbClr val="0F172A"/>
                </a:solidFill>
                <a:latin typeface="Segoe UI"/>
              </a:rPr>
              <a:t>, </a:t>
            </a:r>
            <a:r>
              <a:rPr sz="1700" b="1">
                <a:solidFill>
                  <a:srgbClr val="0F172A"/>
                </a:solidFill>
                <a:latin typeface="Segoe UI"/>
              </a:rPr>
              <a:t>rebase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Squash-merge keeps `main` history linear and readable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Delete the branch on merge — it's already in `main`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Auto-merge: queue the merge for when checks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E3A8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E3A8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2563EB"/>
                </a:solidFill>
                <a:latin typeface="Segoe UI Black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Draft PRs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Open a PR </a:t>
            </a:r>
            <a:r>
              <a:rPr sz="1700" b="1">
                <a:solidFill>
                  <a:srgbClr val="0F172A"/>
                </a:solidFill>
                <a:latin typeface="Segoe UI"/>
              </a:rPr>
              <a:t>before</a:t>
            </a:r>
            <a:r>
              <a:rPr sz="1700" b="0">
                <a:solidFill>
                  <a:srgbClr val="0F172A"/>
                </a:solidFill>
                <a:latin typeface="Segoe UI"/>
              </a:rPr>
              <a:t> it's done — signal "work in progress"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Drafts can't be merged and don't request reviews by default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Great for: early CI feedback, design discussion, pairing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Mark "Ready for review" when you actually want eyes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Cheaper than a Slack thread, more durable than a DM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E3A8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E3A8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2563EB"/>
                </a:solidFill>
                <a:latin typeface="Segoe UI Black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PR Templates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File: `.github/pull_request_template.md`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Pre-fills the PR description for every new 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Sections that pay off: </a:t>
            </a:r>
            <a:r>
              <a:rPr sz="1700" b="1">
                <a:solidFill>
                  <a:srgbClr val="0F172A"/>
                </a:solidFill>
                <a:latin typeface="Segoe UI"/>
              </a:rPr>
              <a:t>Summary</a:t>
            </a:r>
            <a:r>
              <a:rPr sz="1700" b="0">
                <a:solidFill>
                  <a:srgbClr val="0F172A"/>
                </a:solidFill>
                <a:latin typeface="Segoe UI"/>
              </a:rPr>
              <a:t>, </a:t>
            </a:r>
            <a:r>
              <a:rPr sz="1700" b="1">
                <a:solidFill>
                  <a:srgbClr val="0F172A"/>
                </a:solidFill>
                <a:latin typeface="Segoe UI"/>
              </a:rPr>
              <a:t>Testing</a:t>
            </a:r>
            <a:r>
              <a:rPr sz="1700" b="0">
                <a:solidFill>
                  <a:srgbClr val="0F172A"/>
                </a:solidFill>
                <a:latin typeface="Segoe UI"/>
              </a:rPr>
              <a:t>, </a:t>
            </a:r>
            <a:r>
              <a:rPr sz="1700" b="1">
                <a:solidFill>
                  <a:srgbClr val="0F172A"/>
                </a:solidFill>
                <a:latin typeface="Segoe UI"/>
              </a:rPr>
              <a:t>Risk</a:t>
            </a:r>
            <a:r>
              <a:rPr sz="1700" b="0">
                <a:solidFill>
                  <a:srgbClr val="0F172A"/>
                </a:solidFill>
                <a:latin typeface="Segoe UI"/>
              </a:rPr>
              <a:t>, </a:t>
            </a:r>
            <a:r>
              <a:rPr sz="1700" b="1">
                <a:solidFill>
                  <a:srgbClr val="0F172A"/>
                </a:solidFill>
                <a:latin typeface="Segoe UI"/>
              </a:rPr>
              <a:t>Rollback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Multiple templates via `PULL_REQUEST_TEMPLATE/` directory + query string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Templates are guardrails, not paperwork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1E3A8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E3A8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2563EB"/>
                </a:solidFill>
                <a:latin typeface="Segoe UI Black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Best Practices for PRs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Keep PRs </a:t>
            </a:r>
            <a:r>
              <a:rPr sz="1700" b="1">
                <a:solidFill>
                  <a:srgbClr val="0F172A"/>
                </a:solidFill>
                <a:latin typeface="Segoe UI"/>
              </a:rPr>
              <a:t>small</a:t>
            </a:r>
            <a:r>
              <a:rPr sz="1700" b="0">
                <a:solidFill>
                  <a:srgbClr val="0F172A"/>
                </a:solidFill>
                <a:latin typeface="Segoe UI"/>
              </a:rPr>
              <a:t>: &lt; ~400 lines changed when possible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One concern per PR — easier to review, easier to revert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Write the description like the reviewer is busy (they are)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Green CI before requesting review — respect reviewers'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Disagree in comments, decide in a call, document the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1E1B4B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79" y="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49840" y="548640"/>
            <a:ext cx="1645920" cy="16459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0" y="4297680"/>
            <a:ext cx="3108960" cy="310896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82879" y="5577840"/>
            <a:ext cx="1280160" cy="128016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0" y="91439"/>
            <a:ext cx="914400" cy="9144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INTERLUDE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"I'm not saying this PR is too big.</a:t>
            </a:r>
          </a:p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I'm saying it has its own gravitational pull."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 i="1">
                <a:solidFill>
                  <a:srgbClr val="FBCFE8"/>
                </a:solidFill>
                <a:latin typeface="Segoe UI Light"/>
              </a:rPr>
              <a:t>— a tired reviewer, somewhere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 i="0">
                <a:solidFill>
                  <a:srgbClr val="FFE4E6"/>
                </a:solidFill>
                <a:latin typeface="Segoe UI"/>
              </a:rPr>
              <a:t>PR SIZE, ILLUSTRATED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FECDD3"/>
                </a:solidFill>
                <a:latin typeface="Segoe UI"/>
              </a:rPr>
              <a:t>INTERLUDE   ·   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134E4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34E4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D9488"/>
                </a:solidFill>
                <a:latin typeface="Segoe UI Black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CLI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Meet `gh`: the GitHub CLI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Official CLI: `winget install GitHub.cli` / `brew install gh`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Auth once: `gh auth login`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Works with PRs, issues, releases, Actions, gists, repos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Scriptable, pipe-friendly, JSON output via `--json`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Lives where you live: the 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134E4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D948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134E4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D9488"/>
                </a:solidFill>
                <a:latin typeface="Segoe UI Black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CLI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`gh` for Daily Workflows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`gh pr create --fill` — open a PR from current branch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`gh pr checkout 123` — fetch &amp; switch to PR #123 locally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`gh pr status` — what's waiting on me?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`gh pr view --web` — jump to browser when you need 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D9488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`gh run watch` — tail an Actions run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7C2D12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79" y="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49840" y="548640"/>
            <a:ext cx="1645920" cy="16459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0" y="4297680"/>
            <a:ext cx="3108960" cy="310896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82879" y="5577840"/>
            <a:ext cx="1280160" cy="128016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0" y="91439"/>
            <a:ext cx="914400" cy="9144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INTERLUDE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"Not using `gh` is like using dial-up to argue on the internet.</a:t>
            </a:r>
          </a:p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Technically possible. Spiritually unwell."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 i="1">
                <a:solidFill>
                  <a:srgbClr val="FBCFE8"/>
                </a:solidFill>
                <a:latin typeface="Segoe UI Light"/>
              </a:rPr>
              <a:t>— vaguely Silicon Valley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 i="0">
                <a:solidFill>
                  <a:srgbClr val="FFE4E6"/>
                </a:solidFill>
                <a:latin typeface="Segoe UI"/>
              </a:rPr>
              <a:t>ON THE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FECDD3"/>
                </a:solidFill>
                <a:latin typeface="Segoe UI"/>
              </a:rPr>
              <a:t>INTERLUDE   ·   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64E3B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5966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64E3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59669"/>
                </a:solidFill>
                <a:latin typeface="Segoe UI Black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PROTECT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Branch Protection: the basics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Applies to `main` (and any branch you name or pattern-match)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Require </a:t>
            </a:r>
            <a:r>
              <a:rPr sz="1700" b="1">
                <a:solidFill>
                  <a:srgbClr val="0F172A"/>
                </a:solidFill>
                <a:latin typeface="Segoe UI"/>
              </a:rPr>
              <a:t>PRs</a:t>
            </a:r>
            <a:r>
              <a:rPr sz="1700" b="0">
                <a:solidFill>
                  <a:srgbClr val="0F172A"/>
                </a:solidFill>
                <a:latin typeface="Segoe UI"/>
              </a:rPr>
              <a:t> — no direct pushes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Require </a:t>
            </a:r>
            <a:r>
              <a:rPr sz="1700" b="1">
                <a:solidFill>
                  <a:srgbClr val="0F172A"/>
                </a:solidFill>
                <a:latin typeface="Segoe UI"/>
              </a:rPr>
              <a:t>N approvals</a:t>
            </a:r>
            <a:r>
              <a:rPr sz="1700" b="0">
                <a:solidFill>
                  <a:srgbClr val="0F172A"/>
                </a:solidFill>
                <a:latin typeface="Segoe UI"/>
              </a:rPr>
              <a:t> before merge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Require </a:t>
            </a:r>
            <a:r>
              <a:rPr sz="1700" b="1">
                <a:solidFill>
                  <a:srgbClr val="0F172A"/>
                </a:solidFill>
                <a:latin typeface="Segoe UI"/>
              </a:rPr>
              <a:t>status checks</a:t>
            </a:r>
            <a:r>
              <a:rPr sz="1700" b="0">
                <a:solidFill>
                  <a:srgbClr val="0F172A"/>
                </a:solidFill>
                <a:latin typeface="Segoe UI"/>
              </a:rPr>
              <a:t> to pass (CI, security scans, etc.)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Require </a:t>
            </a:r>
            <a:r>
              <a:rPr sz="1700" b="1">
                <a:solidFill>
                  <a:srgbClr val="0F172A"/>
                </a:solidFill>
                <a:latin typeface="Segoe UI"/>
              </a:rPr>
              <a:t>up-to-date</a:t>
            </a:r>
            <a:r>
              <a:rPr sz="1700" b="0">
                <a:solidFill>
                  <a:srgbClr val="0F172A"/>
                </a:solidFill>
                <a:latin typeface="Segoe UI"/>
              </a:rPr>
              <a:t> branches before 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64E3B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5966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64E3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59669"/>
                </a:solidFill>
                <a:latin typeface="Segoe UI Black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PROTECT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Branch Protection: the grown-up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Dismiss stale approvals</a:t>
            </a:r>
            <a:r>
              <a:rPr sz="1700" b="0">
                <a:solidFill>
                  <a:srgbClr val="0F172A"/>
                </a:solidFill>
                <a:latin typeface="Segoe UI"/>
              </a:rPr>
              <a:t> on new commits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Require review from Code Owners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Require signed commits</a:t>
            </a:r>
            <a:r>
              <a:rPr sz="1700" b="0">
                <a:solidFill>
                  <a:srgbClr val="0F172A"/>
                </a:solidFill>
                <a:latin typeface="Segoe UI"/>
              </a:rPr>
              <a:t> for sensitive repos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Restrict who can push</a:t>
            </a:r>
            <a:r>
              <a:rPr sz="1700" b="0">
                <a:solidFill>
                  <a:srgbClr val="0F172A"/>
                </a:solidFill>
                <a:latin typeface="Segoe UI"/>
              </a:rPr>
              <a:t> to matching branches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Include administrators</a:t>
            </a:r>
            <a:r>
              <a:rPr sz="1700" b="0">
                <a:solidFill>
                  <a:srgbClr val="0F172A"/>
                </a:solidFill>
                <a:latin typeface="Segoe UI"/>
              </a:rPr>
              <a:t> — yes, even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64E3B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5966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64E3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59669"/>
                </a:solidFill>
                <a:latin typeface="Segoe UI Black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PROTECT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CODEOWNERS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File: `.github/CODEOWNERS` (or repo root)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Maps </a:t>
            </a:r>
            <a:r>
              <a:rPr sz="1700" b="1">
                <a:solidFill>
                  <a:srgbClr val="0F172A"/>
                </a:solidFill>
                <a:latin typeface="Segoe UI"/>
              </a:rPr>
              <a:t>paths → owners</a:t>
            </a:r>
            <a:r>
              <a:rPr sz="1700" b="0">
                <a:solidFill>
                  <a:srgbClr val="0F172A"/>
                </a:solidFill>
                <a:latin typeface="Segoe UI"/>
              </a:rPr>
              <a:t> (users or teams)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Auto-requests review from the right people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Pairs with branch protection: "Require review from Code Owners"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Same syntax as GitLab — copy, paste, adjust handles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64E3B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5966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64E3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59669"/>
                </a:solidFill>
                <a:latin typeface="Segoe UI Black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PROTECT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Repository Lifecycle &amp; Metadata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Description, topics, README</a:t>
            </a:r>
            <a:r>
              <a:rPr sz="1700" b="0">
                <a:solidFill>
                  <a:srgbClr val="0F172A"/>
                </a:solidFill>
                <a:latin typeface="Segoe UI"/>
              </a:rPr>
              <a:t> — discoverability essentials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License &amp; SECURITY.md</a:t>
            </a:r>
            <a:r>
              <a:rPr sz="1700" b="0">
                <a:solidFill>
                  <a:srgbClr val="0F172A"/>
                </a:solidFill>
                <a:latin typeface="Segoe UI"/>
              </a:rPr>
              <a:t> — set expectations early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Default branch, merge controls, branch protection</a:t>
            </a:r>
            <a:r>
              <a:rPr sz="1700" b="0">
                <a:solidFill>
                  <a:srgbClr val="0F172A"/>
                </a:solidFill>
                <a:latin typeface="Segoe UI"/>
              </a:rPr>
              <a:t> — quality gates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Environments &amp; secrets</a:t>
            </a:r>
            <a:r>
              <a:rPr sz="1700" b="0">
                <a:solidFill>
                  <a:srgbClr val="0F172A"/>
                </a:solidFill>
                <a:latin typeface="Segoe UI"/>
              </a:rPr>
              <a:t> — deploy safety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Archive</a:t>
            </a:r>
            <a:r>
              <a:rPr sz="1700" b="0">
                <a:solidFill>
                  <a:srgbClr val="0F172A"/>
                </a:solidFill>
                <a:latin typeface="Segoe UI"/>
              </a:rPr>
              <a:t> when done — read-only, searchable, honest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064E3B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5966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64E3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59669"/>
                </a:solidFill>
                <a:latin typeface="Segoe UI Black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PROTECT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Merge Controls Worth Setting Once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Allow only </a:t>
            </a:r>
            <a:r>
              <a:rPr sz="1700" b="1">
                <a:solidFill>
                  <a:srgbClr val="0F172A"/>
                </a:solidFill>
                <a:latin typeface="Segoe UI"/>
              </a:rPr>
              <a:t>squash merging</a:t>
            </a:r>
            <a:r>
              <a:rPr sz="1700" b="0">
                <a:solidFill>
                  <a:srgbClr val="0F172A"/>
                </a:solidFill>
                <a:latin typeface="Segoe UI"/>
              </a:rPr>
              <a:t> (or your team's choice)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Auto-delete head branches</a:t>
            </a:r>
            <a:r>
              <a:rPr sz="1700" b="0">
                <a:solidFill>
                  <a:srgbClr val="0F172A"/>
                </a:solidFill>
                <a:latin typeface="Segoe UI"/>
              </a:rPr>
              <a:t> after merge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Allow auto-merge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Require linear history</a:t>
            </a:r>
            <a:r>
              <a:rPr sz="1700" b="0">
                <a:solidFill>
                  <a:srgbClr val="0F172A"/>
                </a:solidFill>
                <a:latin typeface="Segoe UI"/>
              </a:rPr>
              <a:t> if you squash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5966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Require conversation resolution</a:t>
            </a:r>
            <a:r>
              <a:rPr sz="1700" b="0">
                <a:solidFill>
                  <a:srgbClr val="0F172A"/>
                </a:solidFill>
                <a:latin typeface="Segoe UI"/>
              </a:rPr>
              <a:t> before merge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C4899"/>
              </a:gs>
              <a:gs pos="100000">
                <a:srgbClr val="831843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79" y="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49840" y="548640"/>
            <a:ext cx="1645920" cy="16459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0" y="4297680"/>
            <a:ext cx="3108960" cy="310896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82879" y="5577840"/>
            <a:ext cx="1280160" cy="128016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0" y="91439"/>
            <a:ext cx="914400" cy="9144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INTERLUDE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"Trust, but verify.</a:t>
            </a:r>
          </a:p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Especially yourself at 4:55pm on a Friday."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 i="0">
                <a:solidFill>
                  <a:srgbClr val="FFE4E6"/>
                </a:solidFill>
                <a:latin typeface="Segoe UI"/>
              </a:rPr>
              <a:t>BRANCH PROTECTION ENERGY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FECDD3"/>
                </a:solidFill>
                <a:latin typeface="Segoe UI"/>
              </a:rPr>
              <a:t>INTERLUDE   ·   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7C3AE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4C1D95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7C3AED"/>
                </a:solidFill>
                <a:latin typeface="Segoe UI Black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UI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Quick UI Flows: 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Top bar: code, issues, PRs, people — all searchable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Qualifiers: `repo:`, `path:`, `language:`, `author:`, `is:open`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`t` on a repo page → fuzzy file finder (yes, like your editor)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Save searches you run often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Press `?` anywhere for the full keyboard shortcut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4C1D95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7C3AE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4C1D95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7C3AED"/>
                </a:solidFill>
                <a:latin typeface="Segoe UI Black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UI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Quick UI Flows: Blame &amp; 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Blame</a:t>
            </a:r>
            <a:r>
              <a:rPr sz="1700" b="0">
                <a:solidFill>
                  <a:srgbClr val="0F172A"/>
                </a:solidFill>
                <a:latin typeface="Segoe UI"/>
              </a:rPr>
              <a:t>: who changed this line, when, in which PR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Click a commit in blame → straight to the originating 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Compare</a:t>
            </a:r>
            <a:r>
              <a:rPr sz="1700" b="0">
                <a:solidFill>
                  <a:srgbClr val="0F172A"/>
                </a:solidFill>
                <a:latin typeface="Segoe UI"/>
              </a:rPr>
              <a:t>: `/compare/main...feature` for any two refs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Compare across forks for open-source contributions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Use blame to learn, not to assign blame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B6D4"/>
              </a:gs>
              <a:gs pos="100000">
                <a:srgbClr val="164E63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79" y="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149840" y="548640"/>
            <a:ext cx="1645920" cy="16459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0" y="4297680"/>
            <a:ext cx="3108960" cy="310896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182879" y="5577840"/>
            <a:ext cx="1280160" cy="128016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669280" y="91439"/>
            <a:ext cx="914400" cy="9144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02920"/>
            <a:ext cx="9144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INTERLUDE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"It's not blame.</a:t>
            </a:r>
          </a:p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It's context with attribution."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1" i="0">
                <a:solidFill>
                  <a:srgbClr val="FFE4E6"/>
                </a:solidFill>
                <a:latin typeface="Segoe UI"/>
              </a:rPr>
              <a:t>ON `GIT BLAME`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FECDD3"/>
                </a:solidFill>
                <a:latin typeface="Segoe UI"/>
              </a:rPr>
              <a:t>INTERLUDE   ·   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C4A6E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C4A6E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EA5E9"/>
                </a:solidFill>
                <a:latin typeface="Segoe UI Black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WRAP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Putting it together: a day in the life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Morning: `gh pr status` → triage what needs you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Mid-day: open a </a:t>
            </a:r>
            <a:r>
              <a:rPr sz="1700" b="1">
                <a:solidFill>
                  <a:srgbClr val="0F172A"/>
                </a:solidFill>
                <a:latin typeface="Segoe UI"/>
              </a:rPr>
              <a:t>draft PR</a:t>
            </a:r>
            <a:r>
              <a:rPr sz="1700" b="0">
                <a:solidFill>
                  <a:srgbClr val="0F172A"/>
                </a:solidFill>
                <a:latin typeface="Segoe UI"/>
              </a:rPr>
              <a:t> early, let CI tell you the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Afternoon: review with </a:t>
            </a:r>
            <a:r>
              <a:rPr sz="1700" b="1">
                <a:solidFill>
                  <a:srgbClr val="0F172A"/>
                </a:solidFill>
                <a:latin typeface="Segoe UI"/>
              </a:rPr>
              <a:t>suggestions</a:t>
            </a:r>
            <a:r>
              <a:rPr sz="1700" b="0">
                <a:solidFill>
                  <a:srgbClr val="0F172A"/>
                </a:solidFill>
                <a:latin typeface="Segoe UI"/>
              </a:rPr>
              <a:t>, approve, </a:t>
            </a:r>
            <a:r>
              <a:rPr sz="1700" b="1">
                <a:solidFill>
                  <a:srgbClr val="0F172A"/>
                </a:solidFill>
                <a:latin typeface="Segoe UI"/>
              </a:rPr>
              <a:t>auto-merge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End of day: branch deleted, issue auto-closed, history clean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Tomorrow: repeat, slightly faster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C4A6E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C4A6E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EA5E9"/>
                </a:solidFill>
                <a:latin typeface="Segoe UI Black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WRAP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Anti-patterns to 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The </a:t>
            </a:r>
            <a:r>
              <a:rPr sz="1700" b="1">
                <a:solidFill>
                  <a:srgbClr val="0F172A"/>
                </a:solidFill>
                <a:latin typeface="Segoe UI"/>
              </a:rPr>
              <a:t>9,000-line PR</a:t>
            </a:r>
            <a:r>
              <a:rPr sz="1700" b="0">
                <a:solidFill>
                  <a:srgbClr val="0F172A"/>
                </a:solidFill>
                <a:latin typeface="Segoe UI"/>
              </a:rPr>
              <a:t> that nobody can review honestly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Direct pushes to `main`</a:t>
            </a:r>
            <a:r>
              <a:rPr sz="1700" b="0">
                <a:solidFill>
                  <a:srgbClr val="0F172A"/>
                </a:solidFill>
                <a:latin typeface="Segoe UI"/>
              </a:rPr>
              <a:t> ("just this once")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Approving without reading</a:t>
            </a:r>
            <a:r>
              <a:rPr sz="1700" b="0">
                <a:solidFill>
                  <a:srgbClr val="0F172A"/>
                </a:solidFill>
                <a:latin typeface="Segoe UI"/>
              </a:rPr>
              <a:t> to clear the queue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CODEOWNERS</a:t>
            </a:r>
            <a:r>
              <a:rPr sz="1700" b="0">
                <a:solidFill>
                  <a:srgbClr val="0F172A"/>
                </a:solidFill>
                <a:latin typeface="Segoe UI"/>
              </a:rPr>
              <a:t> that points to people who left two years ago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Segoe UI"/>
              </a:rPr>
              <a:t>Bypassing protections as admin</a:t>
            </a:r>
            <a:r>
              <a:rPr sz="1700" b="0">
                <a:solidFill>
                  <a:srgbClr val="0F172A"/>
                </a:solidFill>
                <a:latin typeface="Segoe UI"/>
              </a:rPr>
              <a:t> — once is a precedent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C4A6E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C4A6E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EA5E9"/>
                </a:solidFill>
                <a:latin typeface="Segoe UI Black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WRAP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Migration Checklist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Map terminology in your team's docs (PR, Org, GHCR, …)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Turn on branch protection on `main` for every repo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Add `CODEOWNERS` and a `pull_request_template.md`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Install `gh` and run `gh auth login`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Pick a merge strategy and lock the other ones 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gradFill rotWithShape="1">
            <a:gsLst>
              <a:gs pos="0">
                <a:srgbClr val="0EA5E9"/>
              </a:gs>
              <a:gs pos="100000">
                <a:srgbClr val="0C4A6E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32720" y="5029200"/>
            <a:ext cx="3840480" cy="3840480"/>
          </a:xfrm>
          <a:prstGeom prst="ellipse">
            <a:avLst/>
          </a:prstGeom>
          <a:solidFill>
            <a:srgbClr val="0EA5E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19" y="5669280"/>
            <a:ext cx="1463040" cy="1463040"/>
          </a:xfrm>
          <a:prstGeom prst="ellipse">
            <a:avLst/>
          </a:prstGeom>
          <a:solidFill>
            <a:srgbClr val="0C4A6E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0" y="411480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20040"/>
            <a:ext cx="1828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4200" b="1" i="0">
                <a:solidFill>
                  <a:srgbClr val="0EA5E9"/>
                </a:solidFill>
                <a:latin typeface="Segoe UI Black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1" i="0">
                <a:solidFill>
                  <a:srgbClr val="6B7280"/>
                </a:solidFill>
                <a:latin typeface="Segoe UI"/>
              </a:rPr>
              <a:t>WRAP  ·  GITLAB →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60120"/>
            <a:ext cx="1060704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5000"/>
              </a:lnSpc>
            </a:pPr>
            <a:r>
              <a:rPr sz="3400" b="1" i="0">
                <a:solidFill>
                  <a:srgbClr val="0D1B2A"/>
                </a:solidFill>
                <a:latin typeface="Segoe UI Semibold"/>
              </a:rPr>
              <a:t>Q&amp;A / Resources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783080"/>
            <a:ext cx="640080" cy="64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48840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2420416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2194560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This deck + cheatsheet: `resources/cheatsheet.md`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02889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3274465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3048609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Mapping reference: `modules/01-github-collaboration/gitlab-github-mapping.md`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56938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97280" y="4128514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3902658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Branch protection guide: `modules/01-github-collaboration/branch-protection-guide.md`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10987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" y="4982563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4756707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`gh` docs: `cli.github.com`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565036"/>
            <a:ext cx="10607040" cy="744321"/>
          </a:xfrm>
          <a:prstGeom prst="roundRect">
            <a:avLst>
              <a:gd name="adj" fmla="val 18000"/>
            </a:avLst>
          </a:prstGeom>
          <a:solidFill>
            <a:srgbClr val="0EA5E9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97280" y="5836612"/>
            <a:ext cx="201168" cy="20116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5610756"/>
            <a:ext cx="9692640" cy="6528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700" b="0">
                <a:solidFill>
                  <a:srgbClr val="0F172A"/>
                </a:solidFill>
                <a:latin typeface="Segoe UI"/>
              </a:rPr>
              <a:t>Questions? Now's the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Segoe UI"/>
              </a:rPr>
              <a:t>GitLab → GitHub   ·   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2840</Words>
  <Application>Microsoft Office PowerPoint</Application>
  <PresentationFormat>Widescreen</PresentationFormat>
  <Paragraphs>280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Georgia</vt:lpstr>
      <vt:lpstr>Segoe UI</vt:lpstr>
      <vt:lpstr>Segoe UI Black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Shmuel Max</cp:lastModifiedBy>
  <cp:revision>1</cp:revision>
  <dcterms:created xsi:type="dcterms:W3CDTF">2013-01-27T09:14:16Z</dcterms:created>
  <dcterms:modified xsi:type="dcterms:W3CDTF">2026-04-26T13:10:15Z</dcterms:modified>
  <cp:category/>
</cp:coreProperties>
</file>