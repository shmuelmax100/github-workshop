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0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Max" userId="b84e32cf-be7b-4691-9b92-57824018c291" providerId="ADAL" clId="{0505CAFA-71AF-4EF7-8D54-AFCD91FFB071}"/>
    <pc:docChg chg="undo custSel modSld">
      <pc:chgData name="Shmuel Max" userId="b84e32cf-be7b-4691-9b92-57824018c291" providerId="ADAL" clId="{0505CAFA-71AF-4EF7-8D54-AFCD91FFB071}" dt="2026-04-26T19:52:20.910" v="7" actId="1076"/>
      <pc:docMkLst>
        <pc:docMk/>
      </pc:docMkLst>
      <pc:sldChg chg="modSp mod">
        <pc:chgData name="Shmuel Max" userId="b84e32cf-be7b-4691-9b92-57824018c291" providerId="ADAL" clId="{0505CAFA-71AF-4EF7-8D54-AFCD91FFB071}" dt="2026-04-26T19:45:13.971" v="3" actId="1036"/>
        <pc:sldMkLst>
          <pc:docMk/>
          <pc:sldMk cId="0" sldId="259"/>
        </pc:sldMkLst>
        <pc:spChg chg="mod">
          <ac:chgData name="Shmuel Max" userId="b84e32cf-be7b-4691-9b92-57824018c291" providerId="ADAL" clId="{0505CAFA-71AF-4EF7-8D54-AFCD91FFB071}" dt="2026-04-26T19:45:13.971" v="3" actId="1036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Shmuel Max" userId="b84e32cf-be7b-4691-9b92-57824018c291" providerId="ADAL" clId="{0505CAFA-71AF-4EF7-8D54-AFCD91FFB071}" dt="2026-04-26T19:52:20.910" v="7" actId="1076"/>
        <pc:sldMkLst>
          <pc:docMk/>
          <pc:sldMk cId="0" sldId="270"/>
        </pc:sldMkLst>
        <pc:spChg chg="mod">
          <ac:chgData name="Shmuel Max" userId="b84e32cf-be7b-4691-9b92-57824018c291" providerId="ADAL" clId="{0505CAFA-71AF-4EF7-8D54-AFCD91FFB071}" dt="2026-04-26T19:52:11.685" v="5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Shmuel Max" userId="b84e32cf-be7b-4691-9b92-57824018c291" providerId="ADAL" clId="{0505CAFA-71AF-4EF7-8D54-AFCD91FFB071}" dt="2026-04-26T19:52:20.910" v="7" actId="1076"/>
          <ac:spMkLst>
            <pc:docMk/>
            <pc:sldMk cId="0" sldId="270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62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38912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694944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28432" y="182880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28432" y="438912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28432" y="694944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84464" y="182880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84464" y="438912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84464" y="694944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40496" y="182880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40496" y="438912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0496" y="694944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96528" y="182880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96528" y="438912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96528" y="694944"/>
            <a:ext cx="109728" cy="109728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GitHub Workshop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029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1D9"/>
                </a:solidFill>
              </a:rPr>
              <a:t>From GitLab &amp; Jenkins to GitHub-Native Development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</a:rPr>
              <a:t>SecuriThings Engineering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333756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0" y="3337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</a:rPr>
              <a:t>3.5 Hours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33756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</a:rPr>
              <a:t>Hands-On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</a:rPr>
              <a:t>3 Modules: Collaboration  ·  Actions  · 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4864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 Collaboration &amp; CI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10972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B950"/>
                </a:solidFill>
              </a:rPr>
              <a:t>60 min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83210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54864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0116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 Actions Deep Dive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116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8A6FF"/>
                </a:solidFill>
              </a:rPr>
              <a:t>80 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83210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54864" cy="7498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Break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9260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49E"/>
                </a:solidFill>
              </a:rPr>
              <a:t>10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840480"/>
            <a:ext cx="83210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54864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883E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38404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Day-to-Day Operations &amp; Debugging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8404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883E"/>
                </a:solidFill>
              </a:rPr>
              <a:t>30 min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49E"/>
                </a:solidFill>
              </a:rPr>
              <a:t>Total: 3 hours 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Before We Start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329184" cy="32918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0515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</a:rPr>
              <a:t>GitHub account with repository access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329184" cy="32918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85623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</a:rPr>
              <a:t>GitHub CLI (gh) installed and authenticated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2660904"/>
            <a:ext cx="83210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816352"/>
            <a:ext cx="329184" cy="32918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660904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</a:rPr>
              <a:t>Git configured locally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3493008"/>
            <a:ext cx="8321040" cy="4754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566160"/>
            <a:ext cx="81015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status &amp;&amp; git --version &amp;&amp; gh --version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949E"/>
                </a:solidFill>
              </a:rPr>
              <a:t>Full setup guide  →  START-HERE.md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3FB950"/>
                </a:solidFill>
              </a:rPr>
              <a:t>MODULE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GitHub Collaboration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1D9"/>
                </a:solidFill>
              </a:rPr>
              <a:t>&amp; CI 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526790"/>
            <a:ext cx="173736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60 minutes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Login, Clone &amp; Fork with 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First five minutes on a new machine — without ever opening a browser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35661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1 · Authenticate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840480" cy="1874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choose: GitHub.com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protocol: HTTPS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auth: web browser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status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refresh -s read:org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Stores token in OS keychain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Configures git credential helper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Use -s to add scopes (org, gist, etc.)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54864" cy="3566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2 · Clone &amp; Fork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719072"/>
            <a:ext cx="3840480" cy="22402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1792224"/>
            <a:ext cx="3621024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Clone (you have write access)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owner/repo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Fork + clone + set upstream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fork owner/repo --clone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Sync your fork later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sync owner/repo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069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fork --clone sets upstream remote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repo sync pulls in changes from upstream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GitLab → GitHub: Same Concepts, New Names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solidFill>
            <a:srgbClr val="E243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GitLab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solidFill>
            <a:srgbClr val="24292F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0759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 (MR)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307592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30759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(PR)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700784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70078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.gitlab-ci.yml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700784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70078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.github/workflows/*.yml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093976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09397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2093976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209397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Actions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2487168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8716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2487168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48716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2880360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88036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Branch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2880360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88036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3273552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27355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273552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273552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3666744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6674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Project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17720" y="3666744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666744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/ Repository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" y="4059936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05993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Variables (masked)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17720" y="4059936"/>
            <a:ext cx="4114800" cy="37490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405993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  ${{ secrets.NAME }}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" y="4453128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45312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Variables (plain)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17720" y="4453128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45312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 ${{ vars.NAME }}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502920" y="445312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Variables (plain)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4617720" y="4453128"/>
            <a:ext cx="4114800" cy="374904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4709160" y="445312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 ${{ vars.NAME }}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Pull Request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B950"/>
                </a:solidFill>
              </a:rPr>
              <a:t>Branch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99032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81912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81912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B950"/>
                </a:solidFill>
              </a:rPr>
              <a:t>Push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60904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43784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A6FF"/>
                </a:solidFill>
              </a:rPr>
              <a:t>Open PR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05656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A6FF"/>
                </a:solidFill>
              </a:rPr>
              <a:t>Review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84648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67528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A8FF"/>
                </a:solidFill>
              </a:rPr>
              <a:t>Approve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A8FF"/>
                </a:solidFill>
              </a:rPr>
              <a:t>Merge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08392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83E"/>
                </a:solidFill>
              </a:rPr>
              <a:t>Delete Branch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feature/my-change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81912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feature/my-change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43784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UI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05656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15384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67528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77256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review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--approve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29400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/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Rebase / Merge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91272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or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566160"/>
            <a:ext cx="850392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630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Branch Protection Enforces: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904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Direct pushes to main are blocked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At least 1 approval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All CI checks must pass before merge</a:t>
            </a:r>
            <a:endParaRPr lang="en-US" sz="1100" dirty="0"/>
          </a:p>
        </p:txBody>
      </p:sp>
      <p:sp>
        <p:nvSpPr>
          <p:cNvPr id="69" name="Shape 11"/>
          <p:cNvSpPr/>
          <p:nvPr/>
        </p:nvSpPr>
        <p:spPr>
          <a:xfrm>
            <a:off x="4105656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2"/>
          <p:cNvSpPr/>
          <p:nvPr/>
        </p:nvSpPr>
        <p:spPr>
          <a:xfrm>
            <a:off x="4105656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A6FF"/>
                </a:solidFill>
              </a:rPr>
              <a:t>Review</a:t>
            </a:r>
            <a:endParaRPr lang="en-US" sz="1050" dirty="0"/>
          </a:p>
        </p:txBody>
      </p:sp>
      <p:sp>
        <p:nvSpPr>
          <p:cNvPr id="71" name="Shape 13"/>
          <p:cNvSpPr/>
          <p:nvPr/>
        </p:nvSpPr>
        <p:spPr>
          <a:xfrm>
            <a:off x="5184648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4"/>
          <p:cNvSpPr/>
          <p:nvPr/>
        </p:nvSpPr>
        <p:spPr>
          <a:xfrm>
            <a:off x="5367528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15"/>
          <p:cNvSpPr/>
          <p:nvPr/>
        </p:nvSpPr>
        <p:spPr>
          <a:xfrm>
            <a:off x="5367528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A8FF"/>
                </a:solidFill>
              </a:rPr>
              <a:t>Approve</a:t>
            </a:r>
            <a:endParaRPr lang="en-US" sz="1050" dirty="0"/>
          </a:p>
        </p:txBody>
      </p:sp>
      <p:sp>
        <p:nvSpPr>
          <p:cNvPr id="74" name="Shape 16"/>
          <p:cNvSpPr/>
          <p:nvPr/>
        </p:nvSpPr>
        <p:spPr>
          <a:xfrm>
            <a:off x="6446520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17"/>
          <p:cNvSpPr/>
          <p:nvPr/>
        </p:nvSpPr>
        <p:spPr>
          <a:xfrm>
            <a:off x="6629400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18"/>
          <p:cNvSpPr/>
          <p:nvPr/>
        </p:nvSpPr>
        <p:spPr>
          <a:xfrm>
            <a:off x="6629400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A8FF"/>
                </a:solidFill>
              </a:rPr>
              <a:t>Merge</a:t>
            </a:r>
            <a:endParaRPr lang="en-US" sz="1050" dirty="0"/>
          </a:p>
        </p:txBody>
      </p:sp>
      <p:sp>
        <p:nvSpPr>
          <p:cNvPr id="77" name="Shape 19"/>
          <p:cNvSpPr/>
          <p:nvPr/>
        </p:nvSpPr>
        <p:spPr>
          <a:xfrm>
            <a:off x="7708392" y="1344168"/>
            <a:ext cx="18288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20"/>
          <p:cNvSpPr/>
          <p:nvPr/>
        </p:nvSpPr>
        <p:spPr>
          <a:xfrm>
            <a:off x="7891272" y="1051560"/>
            <a:ext cx="1078992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1"/>
          <p:cNvSpPr/>
          <p:nvPr/>
        </p:nvSpPr>
        <p:spPr>
          <a:xfrm>
            <a:off x="7891272" y="1051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883E"/>
                </a:solidFill>
              </a:rPr>
              <a:t>Delete Branch</a:t>
            </a:r>
            <a:endParaRPr lang="en-US" sz="1050" dirty="0"/>
          </a:p>
        </p:txBody>
      </p:sp>
      <p:sp>
        <p:nvSpPr>
          <p:cNvPr id="80" name="Shape 22"/>
          <p:cNvSpPr/>
          <p:nvPr/>
        </p:nvSpPr>
        <p:spPr>
          <a:xfrm>
            <a:off x="320040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23"/>
          <p:cNvSpPr/>
          <p:nvPr/>
        </p:nvSpPr>
        <p:spPr>
          <a:xfrm>
            <a:off x="429768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feature/my-change</a:t>
            </a:r>
            <a:endParaRPr lang="en-US" sz="850" dirty="0"/>
          </a:p>
        </p:txBody>
      </p:sp>
      <p:sp>
        <p:nvSpPr>
          <p:cNvPr id="82" name="Shape 24"/>
          <p:cNvSpPr/>
          <p:nvPr/>
        </p:nvSpPr>
        <p:spPr>
          <a:xfrm>
            <a:off x="1581912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25"/>
          <p:cNvSpPr/>
          <p:nvPr/>
        </p:nvSpPr>
        <p:spPr>
          <a:xfrm>
            <a:off x="1691640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feature/my-change</a:t>
            </a:r>
            <a:endParaRPr lang="en-US" sz="850" dirty="0"/>
          </a:p>
        </p:txBody>
      </p:sp>
      <p:sp>
        <p:nvSpPr>
          <p:cNvPr id="84" name="Shape 26"/>
          <p:cNvSpPr/>
          <p:nvPr/>
        </p:nvSpPr>
        <p:spPr>
          <a:xfrm>
            <a:off x="2843784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7"/>
          <p:cNvSpPr/>
          <p:nvPr/>
        </p:nvSpPr>
        <p:spPr>
          <a:xfrm>
            <a:off x="2953512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UI</a:t>
            </a:r>
            <a:endParaRPr lang="en-US" sz="850" dirty="0"/>
          </a:p>
        </p:txBody>
      </p:sp>
      <p:sp>
        <p:nvSpPr>
          <p:cNvPr id="86" name="Shape 28"/>
          <p:cNvSpPr/>
          <p:nvPr/>
        </p:nvSpPr>
        <p:spPr>
          <a:xfrm>
            <a:off x="4105656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9"/>
          <p:cNvSpPr/>
          <p:nvPr/>
        </p:nvSpPr>
        <p:spPr>
          <a:xfrm>
            <a:off x="4215384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88" name="Shape 30"/>
          <p:cNvSpPr/>
          <p:nvPr/>
        </p:nvSpPr>
        <p:spPr>
          <a:xfrm>
            <a:off x="5367528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31"/>
          <p:cNvSpPr/>
          <p:nvPr/>
        </p:nvSpPr>
        <p:spPr>
          <a:xfrm>
            <a:off x="5477256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review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--approve</a:t>
            </a:r>
            <a:endParaRPr lang="en-US" sz="850" dirty="0"/>
          </a:p>
        </p:txBody>
      </p:sp>
      <p:sp>
        <p:nvSpPr>
          <p:cNvPr id="90" name="Shape 32"/>
          <p:cNvSpPr/>
          <p:nvPr/>
        </p:nvSpPr>
        <p:spPr>
          <a:xfrm>
            <a:off x="6629400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33"/>
          <p:cNvSpPr/>
          <p:nvPr/>
        </p:nvSpPr>
        <p:spPr>
          <a:xfrm>
            <a:off x="6739128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/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Rebase / Merge</a:t>
            </a:r>
            <a:endParaRPr lang="en-US" sz="850" dirty="0"/>
          </a:p>
        </p:txBody>
      </p:sp>
      <p:sp>
        <p:nvSpPr>
          <p:cNvPr id="92" name="Shape 34"/>
          <p:cNvSpPr/>
          <p:nvPr/>
        </p:nvSpPr>
        <p:spPr>
          <a:xfrm>
            <a:off x="7891272" y="1801368"/>
            <a:ext cx="1078992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35"/>
          <p:cNvSpPr/>
          <p:nvPr/>
        </p:nvSpPr>
        <p:spPr>
          <a:xfrm>
            <a:off x="8001000" y="187452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or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850" dirty="0"/>
          </a:p>
        </p:txBody>
      </p:sp>
      <p:sp>
        <p:nvSpPr>
          <p:cNvPr id="94" name="Shape 36"/>
          <p:cNvSpPr/>
          <p:nvPr/>
        </p:nvSpPr>
        <p:spPr>
          <a:xfrm>
            <a:off x="320040" y="3566160"/>
            <a:ext cx="850392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37"/>
          <p:cNvSpPr/>
          <p:nvPr/>
        </p:nvSpPr>
        <p:spPr>
          <a:xfrm>
            <a:off x="502920" y="3630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Branch Protection Enforces:</a:t>
            </a:r>
            <a:endParaRPr lang="en-US" sz="1100" dirty="0"/>
          </a:p>
        </p:txBody>
      </p:sp>
      <p:sp>
        <p:nvSpPr>
          <p:cNvPr id="96" name="Text 38"/>
          <p:cNvSpPr/>
          <p:nvPr/>
        </p:nvSpPr>
        <p:spPr>
          <a:xfrm>
            <a:off x="502920" y="3904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Direct pushes to main are blocked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At least 1 approval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All CI checks must pass before merge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Draft PRs &amp; PR Templates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4864" cy="3840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</a:rPr>
              <a:t>Draft PRs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not ready for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not notified until ready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--draft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ready  (when done)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WIP, early feedback, CI-first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78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</a:rPr>
              <a:t>PR Templates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.github/PULL_REQUEST_TEMPLATE.md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Auto-populates the PR body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Sections: Summary · Changes · Type · Testing · Checklist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Enforces team standards on every PR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Rule: Write WHY, not what — the diff shows what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17830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Auto-populates the PR body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Sections: Summary · Changes · Type · Testing · Checklist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Enforces team standards on every PR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Rule: Write WHY, not what — the diff shows what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CLI — Your Daily Driver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Pull Requests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07592"/>
            <a:ext cx="4114800" cy="3520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380744"/>
            <a:ext cx="389534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list --assignee @me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checkout 42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review --approve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merge --squash --delete-branch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checks --watch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07592"/>
            <a:ext cx="4114800" cy="3520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380744"/>
            <a:ext cx="389534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list --status failure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view --log-failed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rerun --failed --debug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download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secret set MY_SECRET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owner/repo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Branch Protection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Enforce your standards automatically — no discipline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35608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3533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Require pull request before merging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911096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Required approvals: 1+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386584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3042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Dismiss stale reviews when new commits are pushed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862072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7797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Require status checks to pass  (CI must be green)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2552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Require branches to be up to date before merging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" y="3813048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7307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Block force pushes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1480" y="4288536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Restrict deletions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49E"/>
                </a:solidFill>
              </a:rPr>
              <a:t>Settings  →  Branches  →  Add branch protection rule</a:t>
            </a:r>
            <a:endParaRPr lang="en-US" sz="1100" dirty="0"/>
          </a:p>
        </p:txBody>
      </p:sp>
      <p:sp>
        <p:nvSpPr>
          <p:cNvPr id="37" name="Shape 15"/>
          <p:cNvSpPr/>
          <p:nvPr/>
        </p:nvSpPr>
        <p:spPr>
          <a:xfrm>
            <a:off x="411480" y="3337560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/>
          <p:cNvSpPr/>
          <p:nvPr/>
        </p:nvSpPr>
        <p:spPr>
          <a:xfrm>
            <a:off x="41148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17"/>
          <p:cNvSpPr/>
          <p:nvPr/>
        </p:nvSpPr>
        <p:spPr>
          <a:xfrm>
            <a:off x="841248" y="32552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Require branches to be up to date before merging</a:t>
            </a:r>
            <a:endParaRPr lang="en-US" sz="1350" dirty="0"/>
          </a:p>
        </p:txBody>
      </p:sp>
      <p:sp>
        <p:nvSpPr>
          <p:cNvPr id="40" name="Shape 18"/>
          <p:cNvSpPr/>
          <p:nvPr/>
        </p:nvSpPr>
        <p:spPr>
          <a:xfrm>
            <a:off x="411480" y="3813048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9"/>
          <p:cNvSpPr/>
          <p:nvPr/>
        </p:nvSpPr>
        <p:spPr>
          <a:xfrm>
            <a:off x="41148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Text 20"/>
          <p:cNvSpPr/>
          <p:nvPr/>
        </p:nvSpPr>
        <p:spPr>
          <a:xfrm>
            <a:off x="841248" y="37307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Block force pushes</a:t>
            </a:r>
            <a:endParaRPr lang="en-US" sz="1350" dirty="0"/>
          </a:p>
        </p:txBody>
      </p:sp>
      <p:sp>
        <p:nvSpPr>
          <p:cNvPr id="43" name="Shape 21"/>
          <p:cNvSpPr/>
          <p:nvPr/>
        </p:nvSpPr>
        <p:spPr>
          <a:xfrm>
            <a:off x="411480" y="4288536"/>
            <a:ext cx="292608" cy="29260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/>
          <p:cNvSpPr/>
          <p:nvPr/>
        </p:nvSpPr>
        <p:spPr>
          <a:xfrm>
            <a:off x="4114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23"/>
          <p:cNvSpPr/>
          <p:nvPr/>
        </p:nvSpPr>
        <p:spPr>
          <a:xfrm>
            <a:off x="841248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</a:rPr>
              <a:t>Restrict deletions</a:t>
            </a:r>
            <a:endParaRPr lang="en-US" sz="1350" dirty="0"/>
          </a:p>
        </p:txBody>
      </p:sp>
      <p:sp>
        <p:nvSpPr>
          <p:cNvPr id="46" name="Text 2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49E"/>
                </a:solidFill>
              </a:rPr>
              <a:t>Settings  →  Branches  →  Add branch protection rule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Repository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CODEOWNERS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560320" cy="2286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536192"/>
            <a:ext cx="234086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→ @org/platform-team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→ @org/dev-leads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 → @org/platform-team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987552"/>
            <a:ext cx="274320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Merge Controls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481328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Enable: Squash merge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Auto-delete head branches: 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Auto-merge: available per PR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Metadata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481328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Description + Topics → discoverability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Enable only features you use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Default branch: main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UI — Power Shortcuts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4805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0" y="960120"/>
            <a:ext cx="42519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74920" y="9601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Shortcut / How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44805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130759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3075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Fuzzy file finder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3075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T  in any repo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7647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83480" y="17647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7647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Jump to 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7647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L  when viewing a 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221992"/>
            <a:ext cx="44805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22199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2219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Blame 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2219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B  or click Blame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6791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26791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791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Permanent link (SHA)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6791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Y  to convert URL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136392"/>
            <a:ext cx="44805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313639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1363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Keyboard shortcut 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1363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?  on any page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5935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35935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935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VS Code in browser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5935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.  (period) in any repo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4050792"/>
            <a:ext cx="44805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405079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507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Compare branches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40507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/compare/main...my-branch in URL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45079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45079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079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Inline code suggestion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45079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icon in a review comment</a:t>
            </a:r>
            <a:endParaRPr lang="en-US" sz="1200" dirty="0"/>
          </a:p>
        </p:txBody>
      </p:sp>
      <p:sp>
        <p:nvSpPr>
          <p:cNvPr id="54" name="Text 24"/>
          <p:cNvSpPr/>
          <p:nvPr/>
        </p:nvSpPr>
        <p:spPr>
          <a:xfrm>
            <a:off x="548640" y="31363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Keyboard shortcut list</a:t>
            </a:r>
            <a:endParaRPr lang="en-US" sz="1200" dirty="0"/>
          </a:p>
        </p:txBody>
      </p:sp>
      <p:sp>
        <p:nvSpPr>
          <p:cNvPr id="55" name="Text 25"/>
          <p:cNvSpPr/>
          <p:nvPr/>
        </p:nvSpPr>
        <p:spPr>
          <a:xfrm>
            <a:off x="5074920" y="31363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?  on any page</a:t>
            </a:r>
            <a:endParaRPr lang="en-US" sz="1200" dirty="0"/>
          </a:p>
        </p:txBody>
      </p:sp>
      <p:sp>
        <p:nvSpPr>
          <p:cNvPr id="56" name="Shape 26"/>
          <p:cNvSpPr/>
          <p:nvPr/>
        </p:nvSpPr>
        <p:spPr>
          <a:xfrm>
            <a:off x="411480" y="35935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27"/>
          <p:cNvSpPr/>
          <p:nvPr/>
        </p:nvSpPr>
        <p:spPr>
          <a:xfrm>
            <a:off x="4983480" y="35935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8"/>
          <p:cNvSpPr/>
          <p:nvPr/>
        </p:nvSpPr>
        <p:spPr>
          <a:xfrm>
            <a:off x="548640" y="35935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VS Code in browser</a:t>
            </a:r>
            <a:endParaRPr lang="en-US" sz="1200" dirty="0"/>
          </a:p>
        </p:txBody>
      </p:sp>
      <p:sp>
        <p:nvSpPr>
          <p:cNvPr id="59" name="Text 29"/>
          <p:cNvSpPr/>
          <p:nvPr/>
        </p:nvSpPr>
        <p:spPr>
          <a:xfrm>
            <a:off x="5074920" y="35935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 .  (period) in any repo</a:t>
            </a:r>
            <a:endParaRPr lang="en-US" sz="1200" dirty="0"/>
          </a:p>
        </p:txBody>
      </p:sp>
      <p:sp>
        <p:nvSpPr>
          <p:cNvPr id="60" name="Shape 30"/>
          <p:cNvSpPr/>
          <p:nvPr/>
        </p:nvSpPr>
        <p:spPr>
          <a:xfrm>
            <a:off x="411480" y="4050792"/>
            <a:ext cx="44805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31"/>
          <p:cNvSpPr/>
          <p:nvPr/>
        </p:nvSpPr>
        <p:spPr>
          <a:xfrm>
            <a:off x="4983480" y="405079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2"/>
          <p:cNvSpPr/>
          <p:nvPr/>
        </p:nvSpPr>
        <p:spPr>
          <a:xfrm>
            <a:off x="548640" y="40507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Compare branches</a:t>
            </a:r>
            <a:endParaRPr lang="en-US" sz="1200" dirty="0"/>
          </a:p>
        </p:txBody>
      </p:sp>
      <p:sp>
        <p:nvSpPr>
          <p:cNvPr id="63" name="Text 33"/>
          <p:cNvSpPr/>
          <p:nvPr/>
        </p:nvSpPr>
        <p:spPr>
          <a:xfrm>
            <a:off x="5074920" y="40507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/compare/main...my-branch in URL</a:t>
            </a:r>
            <a:endParaRPr lang="en-US" sz="1200" dirty="0"/>
          </a:p>
        </p:txBody>
      </p:sp>
      <p:sp>
        <p:nvSpPr>
          <p:cNvPr id="64" name="Shape 34"/>
          <p:cNvSpPr/>
          <p:nvPr/>
        </p:nvSpPr>
        <p:spPr>
          <a:xfrm>
            <a:off x="411480" y="4507992"/>
            <a:ext cx="44805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35"/>
          <p:cNvSpPr/>
          <p:nvPr/>
        </p:nvSpPr>
        <p:spPr>
          <a:xfrm>
            <a:off x="4983480" y="4507992"/>
            <a:ext cx="425196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36"/>
          <p:cNvSpPr/>
          <p:nvPr/>
        </p:nvSpPr>
        <p:spPr>
          <a:xfrm>
            <a:off x="548640" y="450799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Inline code suggestion</a:t>
            </a:r>
            <a:endParaRPr lang="en-US" sz="1200" dirty="0"/>
          </a:p>
        </p:txBody>
      </p:sp>
      <p:sp>
        <p:nvSpPr>
          <p:cNvPr id="67" name="Text 37"/>
          <p:cNvSpPr/>
          <p:nvPr/>
        </p:nvSpPr>
        <p:spPr>
          <a:xfrm>
            <a:off x="5074920" y="450799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icon in a review comment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3FB950"/>
                </a:solidFill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Module 1 Exercise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1D9"/>
                </a:solidFill>
              </a:rPr>
              <a:t>Build a complete PR workflow from scratch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64792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greet() function to src/app.py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426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— fill in the template properly (WHY, not what)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191256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181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review from your partner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66744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93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their PR — leave at least one comment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142232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and merge:  gh pr merge --squash --delete-branch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⏱ ~25 min   |   modules/01-github-collaboration/exercises/exercise.md</a:t>
            </a:r>
            <a:endParaRPr lang="en-US" sz="1100" dirty="0"/>
          </a:p>
        </p:txBody>
      </p:sp>
      <p:sp>
        <p:nvSpPr>
          <p:cNvPr id="44" name="Text 6"/>
          <p:cNvSpPr/>
          <p:nvPr/>
        </p:nvSpPr>
        <p:spPr>
          <a:xfrm>
            <a:off x="8686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</a:t>
            </a:r>
            <a:endParaRPr lang="en-US" sz="1300" dirty="0"/>
          </a:p>
        </p:txBody>
      </p:sp>
      <p:sp>
        <p:nvSpPr>
          <p:cNvPr id="45" name="Shape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8"/>
          <p:cNvSpPr/>
          <p:nvPr/>
        </p:nvSpPr>
        <p:spPr>
          <a:xfrm>
            <a:off x="4114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47" name="Text 9"/>
          <p:cNvSpPr/>
          <p:nvPr/>
        </p:nvSpPr>
        <p:spPr>
          <a:xfrm>
            <a:off x="868680" y="21671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greet() function to src/app.py</a:t>
            </a:r>
            <a:endParaRPr lang="en-US" sz="1300" dirty="0"/>
          </a:p>
        </p:txBody>
      </p:sp>
      <p:sp>
        <p:nvSpPr>
          <p:cNvPr id="48" name="Shape 10"/>
          <p:cNvSpPr/>
          <p:nvPr/>
        </p:nvSpPr>
        <p:spPr>
          <a:xfrm>
            <a:off x="411480" y="2715768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1"/>
          <p:cNvSpPr/>
          <p:nvPr/>
        </p:nvSpPr>
        <p:spPr>
          <a:xfrm>
            <a:off x="41148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50" name="Text 12"/>
          <p:cNvSpPr/>
          <p:nvPr/>
        </p:nvSpPr>
        <p:spPr>
          <a:xfrm>
            <a:off x="868680" y="26426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— fill in the template properly (WHY, not what)</a:t>
            </a:r>
            <a:endParaRPr lang="en-US" sz="1300" dirty="0"/>
          </a:p>
        </p:txBody>
      </p:sp>
      <p:sp>
        <p:nvSpPr>
          <p:cNvPr id="51" name="Shape 13"/>
          <p:cNvSpPr/>
          <p:nvPr/>
        </p:nvSpPr>
        <p:spPr>
          <a:xfrm>
            <a:off x="411480" y="3191256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4"/>
          <p:cNvSpPr/>
          <p:nvPr/>
        </p:nvSpPr>
        <p:spPr>
          <a:xfrm>
            <a:off x="41148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868680" y="31181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review from your partner</a:t>
            </a:r>
            <a:endParaRPr lang="en-US" sz="1300" dirty="0"/>
          </a:p>
        </p:txBody>
      </p:sp>
      <p:sp>
        <p:nvSpPr>
          <p:cNvPr id="54" name="Shape 16"/>
          <p:cNvSpPr/>
          <p:nvPr/>
        </p:nvSpPr>
        <p:spPr>
          <a:xfrm>
            <a:off x="411480" y="3666744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7"/>
          <p:cNvSpPr/>
          <p:nvPr/>
        </p:nvSpPr>
        <p:spPr>
          <a:xfrm>
            <a:off x="41148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5</a:t>
            </a:r>
            <a:endParaRPr lang="en-US" sz="1200" dirty="0"/>
          </a:p>
        </p:txBody>
      </p:sp>
      <p:sp>
        <p:nvSpPr>
          <p:cNvPr id="56" name="Text 18"/>
          <p:cNvSpPr/>
          <p:nvPr/>
        </p:nvSpPr>
        <p:spPr>
          <a:xfrm>
            <a:off x="868680" y="3593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their PR — leave at least one comment</a:t>
            </a:r>
            <a:endParaRPr lang="en-US" sz="1300" dirty="0"/>
          </a:p>
        </p:txBody>
      </p:sp>
      <p:sp>
        <p:nvSpPr>
          <p:cNvPr id="57" name="Shape 19"/>
          <p:cNvSpPr/>
          <p:nvPr/>
        </p:nvSpPr>
        <p:spPr>
          <a:xfrm>
            <a:off x="411480" y="4142232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0"/>
          <p:cNvSpPr/>
          <p:nvPr/>
        </p:nvSpPr>
        <p:spPr>
          <a:xfrm>
            <a:off x="41148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6</a:t>
            </a:r>
            <a:endParaRPr lang="en-US" sz="1200" dirty="0"/>
          </a:p>
        </p:txBody>
      </p:sp>
      <p:sp>
        <p:nvSpPr>
          <p:cNvPr id="59" name="Text 21"/>
          <p:cNvSpPr/>
          <p:nvPr/>
        </p:nvSpPr>
        <p:spPr>
          <a:xfrm>
            <a:off x="8686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and merge:  gh pr merge --squash --delete-branch</a:t>
            </a:r>
            <a:endParaRPr lang="en-US" sz="1300" dirty="0"/>
          </a:p>
        </p:txBody>
      </p:sp>
      <p:sp>
        <p:nvSpPr>
          <p:cNvPr id="60" name="Shape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⏱ ~25 min   |   modules/01-github-collaboration/exercises/exercise.md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58A6FF"/>
                </a:solidFill>
              </a:rPr>
              <a:t>MODULE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GitHub Actions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1D9"/>
                </a:solidFill>
              </a:rPr>
              <a:t>Deep Dive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520440"/>
            <a:ext cx="173736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80 minutes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Jenkins → GitHub Actions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Jenkinsfile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solidFill>
            <a:srgbClr val="238636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3075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07592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3075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.github/workflows/*.yml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691640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6916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691640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6916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075688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075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stage('Build')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075688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6592" y="2075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 build: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459736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24597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{ sh '...' 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459736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4597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 - run: ...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843784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28437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{ label 'linux' 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843784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28437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 [self-hosted, linux]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227832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" y="3227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withCredentials([...])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227832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227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secrets.MY_SECRET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611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{ branch 'main' }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3611880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611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github.ref == 'refs/heads/main'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3995928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995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{}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17720" y="3995928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995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without needs: (parallel by default)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4379976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379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{ always {} }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17720" y="4379976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379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4764024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Library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17720" y="4764024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 Workflow / Composite Action</a:t>
            </a:r>
            <a:endParaRPr lang="en-US" sz="1050" dirty="0"/>
          </a:p>
        </p:txBody>
      </p:sp>
      <p:sp>
        <p:nvSpPr>
          <p:cNvPr id="66" name="Shape 28"/>
          <p:cNvSpPr/>
          <p:nvPr/>
        </p:nvSpPr>
        <p:spPr>
          <a:xfrm>
            <a:off x="4617720" y="3227832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29"/>
          <p:cNvSpPr/>
          <p:nvPr/>
        </p:nvSpPr>
        <p:spPr>
          <a:xfrm>
            <a:off x="4736592" y="3227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secrets.MY_SECRET</a:t>
            </a:r>
            <a:endParaRPr lang="en-US" sz="1050" dirty="0"/>
          </a:p>
        </p:txBody>
      </p:sp>
      <p:sp>
        <p:nvSpPr>
          <p:cNvPr id="68" name="Shape 30"/>
          <p:cNvSpPr/>
          <p:nvPr/>
        </p:nvSpPr>
        <p:spPr>
          <a:xfrm>
            <a:off x="411480" y="3611880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1"/>
          <p:cNvSpPr/>
          <p:nvPr/>
        </p:nvSpPr>
        <p:spPr>
          <a:xfrm>
            <a:off x="530352" y="3611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{ branch 'main' }</a:t>
            </a:r>
            <a:endParaRPr lang="en-US" sz="1050" dirty="0"/>
          </a:p>
        </p:txBody>
      </p:sp>
      <p:sp>
        <p:nvSpPr>
          <p:cNvPr id="70" name="Shape 32"/>
          <p:cNvSpPr/>
          <p:nvPr/>
        </p:nvSpPr>
        <p:spPr>
          <a:xfrm>
            <a:off x="4617720" y="3611880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33"/>
          <p:cNvSpPr/>
          <p:nvPr/>
        </p:nvSpPr>
        <p:spPr>
          <a:xfrm>
            <a:off x="4736592" y="3611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github.ref == 'refs/heads/main'</a:t>
            </a:r>
            <a:endParaRPr lang="en-US" sz="1050" dirty="0"/>
          </a:p>
        </p:txBody>
      </p:sp>
      <p:sp>
        <p:nvSpPr>
          <p:cNvPr id="72" name="Shape 34"/>
          <p:cNvSpPr/>
          <p:nvPr/>
        </p:nvSpPr>
        <p:spPr>
          <a:xfrm>
            <a:off x="411480" y="3995928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5"/>
          <p:cNvSpPr/>
          <p:nvPr/>
        </p:nvSpPr>
        <p:spPr>
          <a:xfrm>
            <a:off x="530352" y="3995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{}</a:t>
            </a:r>
            <a:endParaRPr lang="en-US" sz="1050" dirty="0"/>
          </a:p>
        </p:txBody>
      </p:sp>
      <p:sp>
        <p:nvSpPr>
          <p:cNvPr id="74" name="Shape 36"/>
          <p:cNvSpPr/>
          <p:nvPr/>
        </p:nvSpPr>
        <p:spPr>
          <a:xfrm>
            <a:off x="4617720" y="3995928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7"/>
          <p:cNvSpPr/>
          <p:nvPr/>
        </p:nvSpPr>
        <p:spPr>
          <a:xfrm>
            <a:off x="4736592" y="3995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without needs: (parallel by default)</a:t>
            </a:r>
            <a:endParaRPr lang="en-US" sz="1050" dirty="0"/>
          </a:p>
        </p:txBody>
      </p:sp>
      <p:sp>
        <p:nvSpPr>
          <p:cNvPr id="76" name="Shape 38"/>
          <p:cNvSpPr/>
          <p:nvPr/>
        </p:nvSpPr>
        <p:spPr>
          <a:xfrm>
            <a:off x="411480" y="4379976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39"/>
          <p:cNvSpPr/>
          <p:nvPr/>
        </p:nvSpPr>
        <p:spPr>
          <a:xfrm>
            <a:off x="530352" y="4379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{ always {} }</a:t>
            </a:r>
            <a:endParaRPr lang="en-US" sz="1050" dirty="0"/>
          </a:p>
        </p:txBody>
      </p:sp>
      <p:sp>
        <p:nvSpPr>
          <p:cNvPr id="78" name="Shape 40"/>
          <p:cNvSpPr/>
          <p:nvPr/>
        </p:nvSpPr>
        <p:spPr>
          <a:xfrm>
            <a:off x="4617720" y="4379976"/>
            <a:ext cx="41148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1"/>
          <p:cNvSpPr/>
          <p:nvPr/>
        </p:nvSpPr>
        <p:spPr>
          <a:xfrm>
            <a:off x="4736592" y="4379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1050" dirty="0"/>
          </a:p>
        </p:txBody>
      </p:sp>
      <p:sp>
        <p:nvSpPr>
          <p:cNvPr id="80" name="Shape 42"/>
          <p:cNvSpPr/>
          <p:nvPr/>
        </p:nvSpPr>
        <p:spPr>
          <a:xfrm>
            <a:off x="411480" y="4764024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3"/>
          <p:cNvSpPr/>
          <p:nvPr/>
        </p:nvSpPr>
        <p:spPr>
          <a:xfrm>
            <a:off x="530352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Library</a:t>
            </a:r>
            <a:endParaRPr lang="en-US" sz="1050" dirty="0"/>
          </a:p>
        </p:txBody>
      </p:sp>
      <p:sp>
        <p:nvSpPr>
          <p:cNvPr id="82" name="Shape 44"/>
          <p:cNvSpPr/>
          <p:nvPr/>
        </p:nvSpPr>
        <p:spPr>
          <a:xfrm>
            <a:off x="4617720" y="4764024"/>
            <a:ext cx="4114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45"/>
          <p:cNvSpPr/>
          <p:nvPr/>
        </p:nvSpPr>
        <p:spPr>
          <a:xfrm>
            <a:off x="4736592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 Workflow / Composite Action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Actions — Core Concepts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303520" cy="38862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                 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                 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077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735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  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393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050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  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708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src/            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3624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TRIGGER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1581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push, PR, schedule, manual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242316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24597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2A8FF"/>
                </a:solidFill>
              </a:rPr>
              <a:t>JOBS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6791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parallel by default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315468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1912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RUNNER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3410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where the job runs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388620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9227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</a:rPr>
              <a:t>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41422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pre-built, from Marketplace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425196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4288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45079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any shell script</a:t>
            </a:r>
            <a:endParaRPr lang="en-US" sz="950" dirty="0"/>
          </a:p>
        </p:txBody>
      </p:sp>
      <p:sp>
        <p:nvSpPr>
          <p:cNvPr id="40" name="Text 18"/>
          <p:cNvSpPr/>
          <p:nvPr/>
        </p:nvSpPr>
        <p:spPr>
          <a:xfrm>
            <a:off x="6080760" y="26791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parallel by default</a:t>
            </a:r>
            <a:endParaRPr lang="en-US" sz="950" dirty="0"/>
          </a:p>
        </p:txBody>
      </p:sp>
      <p:sp>
        <p:nvSpPr>
          <p:cNvPr id="41" name="Shape 19"/>
          <p:cNvSpPr/>
          <p:nvPr/>
        </p:nvSpPr>
        <p:spPr>
          <a:xfrm>
            <a:off x="5943600" y="315468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/>
          <p:cNvSpPr/>
          <p:nvPr/>
        </p:nvSpPr>
        <p:spPr>
          <a:xfrm>
            <a:off x="6080760" y="31912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RUNNER</a:t>
            </a:r>
            <a:endParaRPr lang="en-US" sz="1000" dirty="0"/>
          </a:p>
        </p:txBody>
      </p:sp>
      <p:sp>
        <p:nvSpPr>
          <p:cNvPr id="43" name="Text 21"/>
          <p:cNvSpPr/>
          <p:nvPr/>
        </p:nvSpPr>
        <p:spPr>
          <a:xfrm>
            <a:off x="6080760" y="3410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where the job runs</a:t>
            </a:r>
            <a:endParaRPr lang="en-US" sz="950" dirty="0"/>
          </a:p>
        </p:txBody>
      </p:sp>
      <p:sp>
        <p:nvSpPr>
          <p:cNvPr id="44" name="Shape 22"/>
          <p:cNvSpPr/>
          <p:nvPr/>
        </p:nvSpPr>
        <p:spPr>
          <a:xfrm>
            <a:off x="5943600" y="388620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3"/>
          <p:cNvSpPr/>
          <p:nvPr/>
        </p:nvSpPr>
        <p:spPr>
          <a:xfrm>
            <a:off x="6080760" y="39227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</a:rPr>
              <a:t>ACTION</a:t>
            </a:r>
            <a:endParaRPr lang="en-US" sz="1000" dirty="0"/>
          </a:p>
        </p:txBody>
      </p:sp>
      <p:sp>
        <p:nvSpPr>
          <p:cNvPr id="46" name="Text 24"/>
          <p:cNvSpPr/>
          <p:nvPr/>
        </p:nvSpPr>
        <p:spPr>
          <a:xfrm>
            <a:off x="6080760" y="41422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pre-built, from Marketplace</a:t>
            </a:r>
            <a:endParaRPr lang="en-US" sz="950" dirty="0"/>
          </a:p>
        </p:txBody>
      </p:sp>
      <p:sp>
        <p:nvSpPr>
          <p:cNvPr id="47" name="Shape 25"/>
          <p:cNvSpPr/>
          <p:nvPr/>
        </p:nvSpPr>
        <p:spPr>
          <a:xfrm>
            <a:off x="5943600" y="4251960"/>
            <a:ext cx="2834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6"/>
          <p:cNvSpPr/>
          <p:nvPr/>
        </p:nvSpPr>
        <p:spPr>
          <a:xfrm>
            <a:off x="6080760" y="4288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COMMAND</a:t>
            </a:r>
            <a:endParaRPr lang="en-US" sz="1000" dirty="0"/>
          </a:p>
        </p:txBody>
      </p:sp>
      <p:sp>
        <p:nvSpPr>
          <p:cNvPr id="49" name="Text 27"/>
          <p:cNvSpPr/>
          <p:nvPr/>
        </p:nvSpPr>
        <p:spPr>
          <a:xfrm>
            <a:off x="6080760" y="45079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any shell script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Secrets, Variables &amp; Environments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Secrets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secrets.NAME }}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1208" y="1874520"/>
            <a:ext cx="252374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Encrypted, masked in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Passwords, tokens, API keys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Scope: Org → Repo →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987552"/>
            <a:ext cx="274320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Variables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vars.NAME }}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01568" y="1874520"/>
            <a:ext cx="252374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Plain text, visible in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Non-sensitive config (URLs, regions)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Scope: Org → Repo →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987552"/>
            <a:ext cx="27432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Environments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 / production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81928" y="1874520"/>
            <a:ext cx="252374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Named deployment targets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Required reviewers = approval gate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Replaces Jenkins manual 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949E"/>
                </a:solidFill>
              </a:rPr>
              <a:t>More specific scope overrides broader — Environment &gt; Repository &gt; Organization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Environments — Approvals &amp; Protection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Native replacement for Jenkins manual-approval plugins — gates, reviewers, and scoped secrets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35661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Protection Rules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92224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Required reviewers (up to 6)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267712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Wait timer before deploy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Allowed deployment branches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218688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145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Environment-scoped secrets &amp; vars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694176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6210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Custom protection rules (Apps)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169664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096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Deployment history &amp; rollback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1298448"/>
            <a:ext cx="4114800" cy="27432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371600"/>
            <a:ext cx="389534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deploy-prod: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production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url: https://app.example.com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./deploy.sh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API_KEY: ${{ secrets.PROD_API_KEY 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Settings → Environments → New environment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462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</a:rPr>
              <a:t>Job pauses on Reviewers gate until approved in UI</a:t>
            </a:r>
            <a:endParaRPr lang="en-US" sz="1100" dirty="0"/>
          </a:p>
        </p:txBody>
      </p:sp>
      <p:sp>
        <p:nvSpPr>
          <p:cNvPr id="44" name="Text 14"/>
          <p:cNvSpPr/>
          <p:nvPr/>
        </p:nvSpPr>
        <p:spPr>
          <a:xfrm>
            <a:off x="960120" y="2670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Allowed deployment branches</a:t>
            </a:r>
            <a:endParaRPr lang="en-US" sz="1150" dirty="0"/>
          </a:p>
        </p:txBody>
      </p:sp>
      <p:sp>
        <p:nvSpPr>
          <p:cNvPr id="45" name="Shape 15"/>
          <p:cNvSpPr/>
          <p:nvPr/>
        </p:nvSpPr>
        <p:spPr>
          <a:xfrm>
            <a:off x="594360" y="3218688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6"/>
          <p:cNvSpPr/>
          <p:nvPr/>
        </p:nvSpPr>
        <p:spPr>
          <a:xfrm>
            <a:off x="59436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Text 17"/>
          <p:cNvSpPr/>
          <p:nvPr/>
        </p:nvSpPr>
        <p:spPr>
          <a:xfrm>
            <a:off x="960120" y="3145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Environment-scoped secrets &amp; vars</a:t>
            </a:r>
            <a:endParaRPr lang="en-US" sz="1150" dirty="0"/>
          </a:p>
        </p:txBody>
      </p:sp>
      <p:sp>
        <p:nvSpPr>
          <p:cNvPr id="48" name="Shape 18"/>
          <p:cNvSpPr/>
          <p:nvPr/>
        </p:nvSpPr>
        <p:spPr>
          <a:xfrm>
            <a:off x="594360" y="3694176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9"/>
          <p:cNvSpPr/>
          <p:nvPr/>
        </p:nvSpPr>
        <p:spPr>
          <a:xfrm>
            <a:off x="59436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50" name="Text 20"/>
          <p:cNvSpPr/>
          <p:nvPr/>
        </p:nvSpPr>
        <p:spPr>
          <a:xfrm>
            <a:off x="960120" y="36210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Custom protection rules (Apps)</a:t>
            </a:r>
            <a:endParaRPr lang="en-US" sz="1150" dirty="0"/>
          </a:p>
        </p:txBody>
      </p:sp>
      <p:sp>
        <p:nvSpPr>
          <p:cNvPr id="51" name="Shape 21"/>
          <p:cNvSpPr/>
          <p:nvPr/>
        </p:nvSpPr>
        <p:spPr>
          <a:xfrm>
            <a:off x="594360" y="4169664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2"/>
          <p:cNvSpPr/>
          <p:nvPr/>
        </p:nvSpPr>
        <p:spPr>
          <a:xfrm>
            <a:off x="59436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✓</a:t>
            </a:r>
            <a:endParaRPr lang="en-US" sz="1000" dirty="0"/>
          </a:p>
        </p:txBody>
      </p:sp>
      <p:sp>
        <p:nvSpPr>
          <p:cNvPr id="53" name="Text 23"/>
          <p:cNvSpPr/>
          <p:nvPr/>
        </p:nvSpPr>
        <p:spPr>
          <a:xfrm>
            <a:off x="960120" y="4096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Deployment history &amp; rollback</a:t>
            </a:r>
            <a:endParaRPr lang="en-US" sz="1150" dirty="0"/>
          </a:p>
        </p:txBody>
      </p:sp>
      <p:sp>
        <p:nvSpPr>
          <p:cNvPr id="54" name="Shape 24"/>
          <p:cNvSpPr/>
          <p:nvPr/>
        </p:nvSpPr>
        <p:spPr>
          <a:xfrm>
            <a:off x="4663440" y="1298448"/>
            <a:ext cx="4114800" cy="27432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5"/>
          <p:cNvSpPr/>
          <p:nvPr/>
        </p:nvSpPr>
        <p:spPr>
          <a:xfrm>
            <a:off x="4773168" y="1371600"/>
            <a:ext cx="389534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deploy-prod: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production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url: https://app.example.com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./deploy.sh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API_KEY: ${{ secrets.PROD_API_KEY }}</a:t>
            </a:r>
            <a:endParaRPr lang="en-US" sz="1050" dirty="0"/>
          </a:p>
        </p:txBody>
      </p:sp>
      <p:sp>
        <p:nvSpPr>
          <p:cNvPr id="56" name="Text 26"/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Settings → Environments → New environment</a:t>
            </a:r>
            <a:endParaRPr lang="en-US" sz="1100" dirty="0"/>
          </a:p>
        </p:txBody>
      </p:sp>
      <p:sp>
        <p:nvSpPr>
          <p:cNvPr id="57" name="Text 27"/>
          <p:cNvSpPr/>
          <p:nvPr/>
        </p:nvSpPr>
        <p:spPr>
          <a:xfrm>
            <a:off x="4663440" y="4462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</a:rPr>
              <a:t>Job pauses on Reviewers gate until approved in UI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Job Orchestration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554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lint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554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084832"/>
            <a:ext cx="1554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</a:rPr>
              <a:t>build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2084832"/>
            <a:ext cx="1554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208483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883E"/>
                </a:solidFill>
              </a:rPr>
              <a:t>deploy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3200400"/>
            <a:ext cx="1554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32004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</a:rPr>
              <a:t>notify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1929384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57400" y="2752344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0" y="2322576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560320"/>
            <a:ext cx="0" cy="6400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7830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883E"/>
                </a:solidFill>
              </a:rPr>
              <a:t>main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9080" y="3703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</a:rPr>
              <a:t>on failure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987552"/>
            <a:ext cx="29260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 [lint, test]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0" y="1353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sequential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needs:)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18836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parallel by default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1579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github.ref == 'refs/heads/main'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0" y="24140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conditional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26883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failure()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2944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on failure only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0" y="3218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0" y="34747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always runs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0" y="3749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matrix: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0" y="40050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parallel variants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0" y="4279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concurrency: cancel-in-progress: 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0" y="45354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cancel stale runs</a:t>
            </a:r>
            <a:endParaRPr lang="en-US" sz="950" dirty="0"/>
          </a:p>
        </p:txBody>
      </p:sp>
      <p:sp>
        <p:nvSpPr>
          <p:cNvPr id="54" name="Shape 14"/>
          <p:cNvSpPr/>
          <p:nvPr/>
        </p:nvSpPr>
        <p:spPr>
          <a:xfrm>
            <a:off x="3840480" y="2322576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5"/>
          <p:cNvSpPr/>
          <p:nvPr/>
        </p:nvSpPr>
        <p:spPr>
          <a:xfrm>
            <a:off x="4343400" y="2560320"/>
            <a:ext cx="0" cy="6400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6"/>
          <p:cNvSpPr/>
          <p:nvPr/>
        </p:nvSpPr>
        <p:spPr>
          <a:xfrm>
            <a:off x="4069080" y="17830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883E"/>
                </a:solidFill>
              </a:rPr>
              <a:t>main only</a:t>
            </a:r>
            <a:endParaRPr lang="en-US" sz="900" dirty="0"/>
          </a:p>
        </p:txBody>
      </p:sp>
      <p:sp>
        <p:nvSpPr>
          <p:cNvPr id="57" name="Text 17"/>
          <p:cNvSpPr/>
          <p:nvPr/>
        </p:nvSpPr>
        <p:spPr>
          <a:xfrm>
            <a:off x="4069080" y="3703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</a:rPr>
              <a:t>on failure</a:t>
            </a:r>
            <a:endParaRPr lang="en-US" sz="900" dirty="0"/>
          </a:p>
        </p:txBody>
      </p:sp>
      <p:sp>
        <p:nvSpPr>
          <p:cNvPr id="58" name="Shape 18"/>
          <p:cNvSpPr/>
          <p:nvPr/>
        </p:nvSpPr>
        <p:spPr>
          <a:xfrm>
            <a:off x="5806440" y="987552"/>
            <a:ext cx="29260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9"/>
          <p:cNvSpPr/>
          <p:nvPr/>
        </p:nvSpPr>
        <p:spPr>
          <a:xfrm>
            <a:off x="594360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 [lint, test]</a:t>
            </a:r>
            <a:endParaRPr lang="en-US" sz="950" dirty="0"/>
          </a:p>
        </p:txBody>
      </p:sp>
      <p:sp>
        <p:nvSpPr>
          <p:cNvPr id="60" name="Text 20"/>
          <p:cNvSpPr/>
          <p:nvPr/>
        </p:nvSpPr>
        <p:spPr>
          <a:xfrm>
            <a:off x="5943600" y="1353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sequential</a:t>
            </a:r>
            <a:endParaRPr lang="en-US" sz="950" dirty="0"/>
          </a:p>
        </p:txBody>
      </p:sp>
      <p:sp>
        <p:nvSpPr>
          <p:cNvPr id="61" name="Text 21"/>
          <p:cNvSpPr/>
          <p:nvPr/>
        </p:nvSpPr>
        <p:spPr>
          <a:xfrm>
            <a:off x="5943600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needs:)</a:t>
            </a:r>
            <a:endParaRPr lang="en-US" sz="950" dirty="0"/>
          </a:p>
        </p:txBody>
      </p:sp>
      <p:sp>
        <p:nvSpPr>
          <p:cNvPr id="62" name="Text 22"/>
          <p:cNvSpPr/>
          <p:nvPr/>
        </p:nvSpPr>
        <p:spPr>
          <a:xfrm>
            <a:off x="5943600" y="18836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parallel by default</a:t>
            </a:r>
            <a:endParaRPr lang="en-US" sz="950" dirty="0"/>
          </a:p>
        </p:txBody>
      </p:sp>
      <p:sp>
        <p:nvSpPr>
          <p:cNvPr id="63" name="Text 23"/>
          <p:cNvSpPr/>
          <p:nvPr/>
        </p:nvSpPr>
        <p:spPr>
          <a:xfrm>
            <a:off x="5943600" y="21579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github.ref == 'refs/heads/main'</a:t>
            </a:r>
            <a:endParaRPr lang="en-US" sz="950" dirty="0"/>
          </a:p>
        </p:txBody>
      </p:sp>
      <p:sp>
        <p:nvSpPr>
          <p:cNvPr id="64" name="Text 24"/>
          <p:cNvSpPr/>
          <p:nvPr/>
        </p:nvSpPr>
        <p:spPr>
          <a:xfrm>
            <a:off x="5943600" y="24140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conditional</a:t>
            </a:r>
            <a:endParaRPr lang="en-US" sz="950" dirty="0"/>
          </a:p>
        </p:txBody>
      </p:sp>
      <p:sp>
        <p:nvSpPr>
          <p:cNvPr id="65" name="Text 25"/>
          <p:cNvSpPr/>
          <p:nvPr/>
        </p:nvSpPr>
        <p:spPr>
          <a:xfrm>
            <a:off x="5943600" y="26883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failure()</a:t>
            </a:r>
            <a:endParaRPr lang="en-US" sz="950" dirty="0"/>
          </a:p>
        </p:txBody>
      </p:sp>
      <p:sp>
        <p:nvSpPr>
          <p:cNvPr id="66" name="Text 26"/>
          <p:cNvSpPr/>
          <p:nvPr/>
        </p:nvSpPr>
        <p:spPr>
          <a:xfrm>
            <a:off x="5943600" y="2944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on failure only</a:t>
            </a:r>
            <a:endParaRPr lang="en-US" sz="950" dirty="0"/>
          </a:p>
        </p:txBody>
      </p:sp>
      <p:sp>
        <p:nvSpPr>
          <p:cNvPr id="67" name="Text 27"/>
          <p:cNvSpPr/>
          <p:nvPr/>
        </p:nvSpPr>
        <p:spPr>
          <a:xfrm>
            <a:off x="5943600" y="3218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950" dirty="0"/>
          </a:p>
        </p:txBody>
      </p:sp>
      <p:sp>
        <p:nvSpPr>
          <p:cNvPr id="68" name="Text 28"/>
          <p:cNvSpPr/>
          <p:nvPr/>
        </p:nvSpPr>
        <p:spPr>
          <a:xfrm>
            <a:off x="5943600" y="34747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always runs</a:t>
            </a:r>
            <a:endParaRPr lang="en-US" sz="950" dirty="0"/>
          </a:p>
        </p:txBody>
      </p:sp>
      <p:sp>
        <p:nvSpPr>
          <p:cNvPr id="69" name="Text 29"/>
          <p:cNvSpPr/>
          <p:nvPr/>
        </p:nvSpPr>
        <p:spPr>
          <a:xfrm>
            <a:off x="5943600" y="3749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matrix:</a:t>
            </a:r>
            <a:endParaRPr lang="en-US" sz="950" dirty="0"/>
          </a:p>
        </p:txBody>
      </p:sp>
      <p:sp>
        <p:nvSpPr>
          <p:cNvPr id="70" name="Text 30"/>
          <p:cNvSpPr/>
          <p:nvPr/>
        </p:nvSpPr>
        <p:spPr>
          <a:xfrm>
            <a:off x="5943600" y="40050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parallel variants</a:t>
            </a:r>
            <a:endParaRPr lang="en-US" sz="950" dirty="0"/>
          </a:p>
        </p:txBody>
      </p:sp>
      <p:sp>
        <p:nvSpPr>
          <p:cNvPr id="71" name="Text 31"/>
          <p:cNvSpPr/>
          <p:nvPr/>
        </p:nvSpPr>
        <p:spPr>
          <a:xfrm>
            <a:off x="5943600" y="4279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concurrency: cancel-in-progress: true</a:t>
            </a:r>
            <a:endParaRPr lang="en-US" sz="950" dirty="0"/>
          </a:p>
        </p:txBody>
      </p:sp>
      <p:sp>
        <p:nvSpPr>
          <p:cNvPr id="72" name="Text 32"/>
          <p:cNvSpPr/>
          <p:nvPr/>
        </p:nvSpPr>
        <p:spPr>
          <a:xfrm>
            <a:off x="5943600" y="45354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→  cancel stale runs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Passing Data Between Steps &amp; Jobs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Each job is a fresh VM — pick the right channel for the data you're moving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194560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Mechanism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61872"/>
            <a:ext cx="1554480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97480" y="12618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Scope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261872"/>
            <a:ext cx="4572000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26187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Use For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591056"/>
            <a:ext cx="21945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$GITHUB_OUTPUT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1591056"/>
            <a:ext cx="1554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159105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→ step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591056"/>
            <a:ext cx="45720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1591056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values referenced by step id (small)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975104"/>
            <a:ext cx="219456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7510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$GITHUB_ENV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1975104"/>
            <a:ext cx="155448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97480" y="1975104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→ step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1975104"/>
            <a:ext cx="45720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51960" y="1975104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for all later steps in the job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359152"/>
            <a:ext cx="21945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35915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at job/step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2359152"/>
            <a:ext cx="1554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2359152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60520" y="2359152"/>
            <a:ext cx="45720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51960" y="2359152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known at workflow author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2743200"/>
            <a:ext cx="219456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27432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jobs.&lt;j&gt;.outputs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743200"/>
            <a:ext cx="155448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97480" y="27432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job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60520" y="2743200"/>
            <a:ext cx="45720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51960" y="2743200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strings between dependent jobs (needs)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3127248"/>
            <a:ext cx="21945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1272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actions/cache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3127248"/>
            <a:ext cx="15544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97480" y="3127248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run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60520" y="3127248"/>
            <a:ext cx="45720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51960" y="3127248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deps (pip / npm / gradle) across runs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511296"/>
            <a:ext cx="219456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511296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upload/download-artifact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606040" y="3511296"/>
            <a:ext cx="155448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97480" y="35112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job / run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60520" y="3511296"/>
            <a:ext cx="45720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51960" y="3511296"/>
            <a:ext cx="4462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builds, test reports, coverage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3950208"/>
            <a:ext cx="411480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4023360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output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ver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echo "tag=v1.2.${{ github.run_number }}" &gt;&gt; $GITHUB_OUTPUT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echo "${{ steps.ver.outputs.tag }}"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3950208"/>
            <a:ext cx="411480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023360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job output → next job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${{ steps.ver.outputs.tag }}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needs: prepare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 [run: echo ${{ needs.prepare.outputs.tag }}]</a:t>
            </a:r>
            <a:endParaRPr lang="en-US" sz="950" dirty="0"/>
          </a:p>
        </p:txBody>
      </p:sp>
      <p:sp>
        <p:nvSpPr>
          <p:cNvPr id="55" name="Shape 45"/>
          <p:cNvSpPr/>
          <p:nvPr/>
        </p:nvSpPr>
        <p:spPr>
          <a:xfrm>
            <a:off x="411480" y="3950208"/>
            <a:ext cx="411480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6"/>
          <p:cNvSpPr/>
          <p:nvPr/>
        </p:nvSpPr>
        <p:spPr>
          <a:xfrm>
            <a:off x="521208" y="4023360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output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ver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echo "tag=v1.2.${{ github.run_number }}" &gt;&gt; $GITHUB_OUTPUT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echo "${{ steps.ver.outputs.tag }}"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4663440" y="3950208"/>
            <a:ext cx="411480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/>
          <p:nvPr/>
        </p:nvSpPr>
        <p:spPr>
          <a:xfrm>
            <a:off x="4773168" y="4023360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job output → next job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${{ steps.ver.outputs.tag }}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needs: prepare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 [run: echo ${{ needs.prepare.outputs.tag }}]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Reusable Workflows &amp; Composite Actions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148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54864" cy="2468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8FF"/>
                </a:solidFill>
              </a:rPr>
              <a:t>Reusable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workflow_call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 full workflow called from another workflow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Has its own runner and jobs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Pass inputs, secrets, get outputs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Best for: shared deploy / release pipelines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41148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54864" cy="2468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</a:rPr>
              <a:t>Composite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action.yml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Steps packaged as a single uses: call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Runs on the caller's runner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Best for: shared setup (install, cache, auth)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8321040" cy="126187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3685032"/>
            <a:ext cx="810158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uses: ./.github/workflows/deploy.yml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environment: staging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secrets: inherit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&amp; Scale — Caching &amp; Matrix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Two levers that pay off on every run: cache dependencies, parallelize across versions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" cy="35844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Built-in cache via setup-*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840480" cy="1920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36210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actions/setup-node@v4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node-version: '20'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cache: 'yarn'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cache-dependency-path: yarn.lock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actions/setup-python@v5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python-version: '3.12'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cache: 'pip'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72160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One line — keys &amp; paths handled for you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Works for: npm, yarn, pnpm, pip, gradle, maven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Drop to actions/cache@v4 only for custom paths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54864" cy="35844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strategy: matrix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691640"/>
            <a:ext cx="3840480" cy="1783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1764792"/>
            <a:ext cx="3621024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fail-fast: false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python: ['3.10', '3.11', '3.12']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os: [ubuntu-latest, windows-latest]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exclude: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os: windows-latest, python: '3.10'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5844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N parallel variants from one job definition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fail-fast: false — let all variants finish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include / exclude — fine-tune the combinations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Security Best Practices &amp; SHA Pinning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Tags can move, SHAs cannot — pin third-party actions and lock down permissions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" cy="35844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SHA Pinning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840480" cy="20116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64792"/>
            <a:ext cx="362102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tag — can be moved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actions/checkout@v4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pinned to immutable SHA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actions/checkout@\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11bd71901bbe5b1630ceea73d27597364c9af683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v4.2.2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822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</a:rPr>
              <a:t>Use Dependabot to keep pinned SHAs up to date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54864" cy="35844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Workflow Hardening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19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 contents: read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9568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Minimal default token 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2219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pull_request_target — avoid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4597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Runs with write token on forks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249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 via env: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626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Never inline in run: scripts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278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→ cloud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65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No long-lived AWS / Azure keys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730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 .github/workflows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9684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Workflow changes need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4714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Prevent overlapping deploys</a:t>
            </a:r>
            <a:endParaRPr lang="en-US" sz="1000" dirty="0"/>
          </a:p>
        </p:txBody>
      </p:sp>
      <p:sp>
        <p:nvSpPr>
          <p:cNvPr id="46" name="Shape 4"/>
          <p:cNvSpPr/>
          <p:nvPr/>
        </p:nvSpPr>
        <p:spPr>
          <a:xfrm>
            <a:off x="411480" y="1280160"/>
            <a:ext cx="54864" cy="35844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5"/>
          <p:cNvSpPr/>
          <p:nvPr/>
        </p:nvSpPr>
        <p:spPr>
          <a:xfrm>
            <a:off x="59436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SHA Pinning</a:t>
            </a:r>
            <a:endParaRPr lang="en-US" sz="1300" dirty="0"/>
          </a:p>
        </p:txBody>
      </p:sp>
      <p:sp>
        <p:nvSpPr>
          <p:cNvPr id="48" name="Shape 6"/>
          <p:cNvSpPr/>
          <p:nvPr/>
        </p:nvSpPr>
        <p:spPr>
          <a:xfrm>
            <a:off x="548640" y="1691640"/>
            <a:ext cx="3840480" cy="20116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7"/>
          <p:cNvSpPr/>
          <p:nvPr/>
        </p:nvSpPr>
        <p:spPr>
          <a:xfrm>
            <a:off x="658368" y="1764792"/>
            <a:ext cx="362102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tag — can be moved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actions/checkout@v4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pinned to immutable SHA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actions/checkout@\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11bd71901bbe5b1630ceea73d27597364c9af683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v4.2.2</a:t>
            </a:r>
            <a:endParaRPr lang="en-US" sz="950" dirty="0"/>
          </a:p>
        </p:txBody>
      </p:sp>
      <p:sp>
        <p:nvSpPr>
          <p:cNvPr id="50" name="Text 8"/>
          <p:cNvSpPr/>
          <p:nvPr/>
        </p:nvSpPr>
        <p:spPr>
          <a:xfrm>
            <a:off x="594360" y="3822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</a:rPr>
              <a:t>Use Dependabot to keep pinned SHAs up to date</a:t>
            </a:r>
            <a:endParaRPr lang="en-US" sz="1050" dirty="0"/>
          </a:p>
        </p:txBody>
      </p:sp>
      <p:sp>
        <p:nvSpPr>
          <p:cNvPr id="51" name="Shape 9"/>
          <p:cNvSpPr/>
          <p:nvPr/>
        </p:nvSpPr>
        <p:spPr>
          <a:xfrm>
            <a:off x="4663440" y="1280160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10"/>
          <p:cNvSpPr/>
          <p:nvPr/>
        </p:nvSpPr>
        <p:spPr>
          <a:xfrm>
            <a:off x="4663440" y="1280160"/>
            <a:ext cx="54864" cy="35844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1"/>
          <p:cNvSpPr/>
          <p:nvPr/>
        </p:nvSpPr>
        <p:spPr>
          <a:xfrm>
            <a:off x="484632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Workflow Hardening</a:t>
            </a:r>
            <a:endParaRPr lang="en-US" sz="1300" dirty="0"/>
          </a:p>
        </p:txBody>
      </p:sp>
      <p:sp>
        <p:nvSpPr>
          <p:cNvPr id="54" name="Text 12"/>
          <p:cNvSpPr/>
          <p:nvPr/>
        </p:nvSpPr>
        <p:spPr>
          <a:xfrm>
            <a:off x="4846320" y="1719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 contents: read</a:t>
            </a:r>
            <a:endParaRPr lang="en-US" sz="1000" dirty="0"/>
          </a:p>
        </p:txBody>
      </p:sp>
      <p:sp>
        <p:nvSpPr>
          <p:cNvPr id="55" name="Text 13"/>
          <p:cNvSpPr/>
          <p:nvPr/>
        </p:nvSpPr>
        <p:spPr>
          <a:xfrm>
            <a:off x="4937760" y="19568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Minimal default token scope</a:t>
            </a:r>
            <a:endParaRPr lang="en-US" sz="1000" dirty="0"/>
          </a:p>
        </p:txBody>
      </p:sp>
      <p:sp>
        <p:nvSpPr>
          <p:cNvPr id="56" name="Text 14"/>
          <p:cNvSpPr/>
          <p:nvPr/>
        </p:nvSpPr>
        <p:spPr>
          <a:xfrm>
            <a:off x="4846320" y="22219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pull_request_target — avoid</a:t>
            </a:r>
            <a:endParaRPr lang="en-US" sz="1000" dirty="0"/>
          </a:p>
        </p:txBody>
      </p:sp>
      <p:sp>
        <p:nvSpPr>
          <p:cNvPr id="57" name="Text 15"/>
          <p:cNvSpPr/>
          <p:nvPr/>
        </p:nvSpPr>
        <p:spPr>
          <a:xfrm>
            <a:off x="4937760" y="24597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Runs with write token on forks</a:t>
            </a:r>
            <a:endParaRPr lang="en-US" sz="1000" dirty="0"/>
          </a:p>
        </p:txBody>
      </p:sp>
      <p:sp>
        <p:nvSpPr>
          <p:cNvPr id="58" name="Text 16"/>
          <p:cNvSpPr/>
          <p:nvPr/>
        </p:nvSpPr>
        <p:spPr>
          <a:xfrm>
            <a:off x="4846320" y="27249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 via env:</a:t>
            </a:r>
            <a:endParaRPr lang="en-US" sz="1000" dirty="0"/>
          </a:p>
        </p:txBody>
      </p:sp>
      <p:sp>
        <p:nvSpPr>
          <p:cNvPr id="59" name="Text 17"/>
          <p:cNvSpPr/>
          <p:nvPr/>
        </p:nvSpPr>
        <p:spPr>
          <a:xfrm>
            <a:off x="4937760" y="29626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Never inline in run: scripts</a:t>
            </a:r>
            <a:endParaRPr lang="en-US" sz="1000" dirty="0"/>
          </a:p>
        </p:txBody>
      </p:sp>
      <p:sp>
        <p:nvSpPr>
          <p:cNvPr id="60" name="Text 18"/>
          <p:cNvSpPr/>
          <p:nvPr/>
        </p:nvSpPr>
        <p:spPr>
          <a:xfrm>
            <a:off x="4846320" y="32278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→ cloud</a:t>
            </a:r>
            <a:endParaRPr lang="en-US" sz="1000" dirty="0"/>
          </a:p>
        </p:txBody>
      </p:sp>
      <p:sp>
        <p:nvSpPr>
          <p:cNvPr id="61" name="Text 19"/>
          <p:cNvSpPr/>
          <p:nvPr/>
        </p:nvSpPr>
        <p:spPr>
          <a:xfrm>
            <a:off x="4937760" y="3465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No long-lived AWS / Azure keys</a:t>
            </a:r>
            <a:endParaRPr lang="en-US" sz="1000" dirty="0"/>
          </a:p>
        </p:txBody>
      </p:sp>
      <p:sp>
        <p:nvSpPr>
          <p:cNvPr id="62" name="Text 20"/>
          <p:cNvSpPr/>
          <p:nvPr/>
        </p:nvSpPr>
        <p:spPr>
          <a:xfrm>
            <a:off x="4846320" y="3730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 .github/workflows</a:t>
            </a:r>
            <a:endParaRPr lang="en-US" sz="1000" dirty="0"/>
          </a:p>
        </p:txBody>
      </p:sp>
      <p:sp>
        <p:nvSpPr>
          <p:cNvPr id="63" name="Text 21"/>
          <p:cNvSpPr/>
          <p:nvPr/>
        </p:nvSpPr>
        <p:spPr>
          <a:xfrm>
            <a:off x="4937760" y="39684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Workflow changes need review</a:t>
            </a:r>
            <a:endParaRPr lang="en-US" sz="1000" dirty="0"/>
          </a:p>
        </p:txBody>
      </p:sp>
      <p:sp>
        <p:nvSpPr>
          <p:cNvPr id="64" name="Text 22"/>
          <p:cNvSpPr/>
          <p:nvPr/>
        </p:nvSpPr>
        <p:spPr>
          <a:xfrm>
            <a:off x="4846320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concurrency:</a:t>
            </a:r>
            <a:endParaRPr lang="en-US" sz="1000" dirty="0"/>
          </a:p>
        </p:txBody>
      </p:sp>
      <p:sp>
        <p:nvSpPr>
          <p:cNvPr id="65" name="Text 23"/>
          <p:cNvSpPr/>
          <p:nvPr/>
        </p:nvSpPr>
        <p:spPr>
          <a:xfrm>
            <a:off x="4937760" y="44714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→  Prevent overlapping deploys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Runners — Where Your Jobs Execute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5603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960120"/>
            <a:ext cx="28346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71800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GitHub-Hosted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960120"/>
            <a:ext cx="329184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Self-Hosted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344168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44168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Setup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71800" y="1344168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34416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Zero config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1344168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344168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You manage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1792224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792224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Cost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71800" y="1792224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1792224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Per-minute billing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94960" y="1792224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792224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Your infra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2240280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240280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Isolation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71800" y="2240280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2240280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Fresh VM per job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94960" y="2240280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2240280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Shared (configurable)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2688336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688336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Private network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71800" y="2688336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81528" y="2688336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883E"/>
                </a:solidFill>
              </a:rPr>
              <a:t>No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94960" y="2688336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2688336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</a:rPr>
              <a:t>Yes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3136392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136392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Custom tools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71800" y="3136392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1528" y="3136392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Install each run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394960" y="3136392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3136392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Pre-installed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" y="3584448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584448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Best for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971800" y="3584448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81528" y="358444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Standard CI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394960" y="3584448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3584448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Large builds, private infra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</a:rPr>
              <a:t>Use self-hosted when: private network access · large Docker cache · specialized hardware (GPU) · cost at scale</a:t>
            </a:r>
            <a:endParaRPr lang="en-US" sz="1050" dirty="0"/>
          </a:p>
        </p:txBody>
      </p:sp>
      <p:sp>
        <p:nvSpPr>
          <p:cNvPr id="86" name="Shape 6"/>
          <p:cNvSpPr/>
          <p:nvPr/>
        </p:nvSpPr>
        <p:spPr>
          <a:xfrm>
            <a:off x="5806440" y="960120"/>
            <a:ext cx="329184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"/>
          <p:cNvSpPr/>
          <p:nvPr/>
        </p:nvSpPr>
        <p:spPr>
          <a:xfrm>
            <a:off x="580644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Self-Hosted</a:t>
            </a:r>
            <a:endParaRPr lang="en-US" sz="1300" dirty="0"/>
          </a:p>
        </p:txBody>
      </p:sp>
      <p:sp>
        <p:nvSpPr>
          <p:cNvPr id="88" name="Shape 8"/>
          <p:cNvSpPr/>
          <p:nvPr/>
        </p:nvSpPr>
        <p:spPr>
          <a:xfrm>
            <a:off x="411480" y="1344168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9"/>
          <p:cNvSpPr/>
          <p:nvPr/>
        </p:nvSpPr>
        <p:spPr>
          <a:xfrm>
            <a:off x="521208" y="1344168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Setup</a:t>
            </a:r>
            <a:endParaRPr lang="en-US" sz="1150" dirty="0"/>
          </a:p>
        </p:txBody>
      </p:sp>
      <p:sp>
        <p:nvSpPr>
          <p:cNvPr id="90" name="Shape 10"/>
          <p:cNvSpPr/>
          <p:nvPr/>
        </p:nvSpPr>
        <p:spPr>
          <a:xfrm>
            <a:off x="2971800" y="1344168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1"/>
          <p:cNvSpPr/>
          <p:nvPr/>
        </p:nvSpPr>
        <p:spPr>
          <a:xfrm>
            <a:off x="3081528" y="134416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Zero config</a:t>
            </a:r>
            <a:endParaRPr lang="en-US" sz="1150" dirty="0"/>
          </a:p>
        </p:txBody>
      </p:sp>
      <p:sp>
        <p:nvSpPr>
          <p:cNvPr id="92" name="Shape 12"/>
          <p:cNvSpPr/>
          <p:nvPr/>
        </p:nvSpPr>
        <p:spPr>
          <a:xfrm>
            <a:off x="5394960" y="1344168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13"/>
          <p:cNvSpPr/>
          <p:nvPr/>
        </p:nvSpPr>
        <p:spPr>
          <a:xfrm>
            <a:off x="5504688" y="1344168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You manage</a:t>
            </a:r>
            <a:endParaRPr lang="en-US" sz="1150" dirty="0"/>
          </a:p>
        </p:txBody>
      </p:sp>
      <p:sp>
        <p:nvSpPr>
          <p:cNvPr id="94" name="Shape 14"/>
          <p:cNvSpPr/>
          <p:nvPr/>
        </p:nvSpPr>
        <p:spPr>
          <a:xfrm>
            <a:off x="411480" y="1792224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15"/>
          <p:cNvSpPr/>
          <p:nvPr/>
        </p:nvSpPr>
        <p:spPr>
          <a:xfrm>
            <a:off x="521208" y="1792224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Cost</a:t>
            </a:r>
            <a:endParaRPr lang="en-US" sz="1150" dirty="0"/>
          </a:p>
        </p:txBody>
      </p:sp>
      <p:sp>
        <p:nvSpPr>
          <p:cNvPr id="96" name="Shape 16"/>
          <p:cNvSpPr/>
          <p:nvPr/>
        </p:nvSpPr>
        <p:spPr>
          <a:xfrm>
            <a:off x="2971800" y="1792224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7"/>
          <p:cNvSpPr/>
          <p:nvPr/>
        </p:nvSpPr>
        <p:spPr>
          <a:xfrm>
            <a:off x="3081528" y="1792224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Per-minute billing</a:t>
            </a:r>
            <a:endParaRPr lang="en-US" sz="1150" dirty="0"/>
          </a:p>
        </p:txBody>
      </p:sp>
      <p:sp>
        <p:nvSpPr>
          <p:cNvPr id="98" name="Shape 18"/>
          <p:cNvSpPr/>
          <p:nvPr/>
        </p:nvSpPr>
        <p:spPr>
          <a:xfrm>
            <a:off x="5394960" y="1792224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19"/>
          <p:cNvSpPr/>
          <p:nvPr/>
        </p:nvSpPr>
        <p:spPr>
          <a:xfrm>
            <a:off x="5504688" y="1792224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Your infra</a:t>
            </a:r>
            <a:endParaRPr lang="en-US" sz="1150" dirty="0"/>
          </a:p>
        </p:txBody>
      </p:sp>
      <p:sp>
        <p:nvSpPr>
          <p:cNvPr id="100" name="Shape 20"/>
          <p:cNvSpPr/>
          <p:nvPr/>
        </p:nvSpPr>
        <p:spPr>
          <a:xfrm>
            <a:off x="411480" y="2240280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1"/>
          <p:cNvSpPr/>
          <p:nvPr/>
        </p:nvSpPr>
        <p:spPr>
          <a:xfrm>
            <a:off x="521208" y="2240280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Isolation</a:t>
            </a:r>
            <a:endParaRPr lang="en-US" sz="1150" dirty="0"/>
          </a:p>
        </p:txBody>
      </p:sp>
      <p:sp>
        <p:nvSpPr>
          <p:cNvPr id="102" name="Shape 22"/>
          <p:cNvSpPr/>
          <p:nvPr/>
        </p:nvSpPr>
        <p:spPr>
          <a:xfrm>
            <a:off x="2971800" y="2240280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3"/>
          <p:cNvSpPr/>
          <p:nvPr/>
        </p:nvSpPr>
        <p:spPr>
          <a:xfrm>
            <a:off x="3081528" y="2240280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Fresh VM per job</a:t>
            </a:r>
            <a:endParaRPr lang="en-US" sz="1150" dirty="0"/>
          </a:p>
        </p:txBody>
      </p:sp>
      <p:sp>
        <p:nvSpPr>
          <p:cNvPr id="104" name="Shape 24"/>
          <p:cNvSpPr/>
          <p:nvPr/>
        </p:nvSpPr>
        <p:spPr>
          <a:xfrm>
            <a:off x="5394960" y="2240280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5"/>
          <p:cNvSpPr/>
          <p:nvPr/>
        </p:nvSpPr>
        <p:spPr>
          <a:xfrm>
            <a:off x="5504688" y="2240280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Shared (configurable)</a:t>
            </a:r>
            <a:endParaRPr lang="en-US" sz="1150" dirty="0"/>
          </a:p>
        </p:txBody>
      </p:sp>
      <p:sp>
        <p:nvSpPr>
          <p:cNvPr id="106" name="Shape 26"/>
          <p:cNvSpPr/>
          <p:nvPr/>
        </p:nvSpPr>
        <p:spPr>
          <a:xfrm>
            <a:off x="411480" y="2688336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27"/>
          <p:cNvSpPr/>
          <p:nvPr/>
        </p:nvSpPr>
        <p:spPr>
          <a:xfrm>
            <a:off x="521208" y="2688336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Private network</a:t>
            </a:r>
            <a:endParaRPr lang="en-US" sz="1150" dirty="0"/>
          </a:p>
        </p:txBody>
      </p:sp>
      <p:sp>
        <p:nvSpPr>
          <p:cNvPr id="108" name="Shape 28"/>
          <p:cNvSpPr/>
          <p:nvPr/>
        </p:nvSpPr>
        <p:spPr>
          <a:xfrm>
            <a:off x="2971800" y="2688336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9"/>
          <p:cNvSpPr/>
          <p:nvPr/>
        </p:nvSpPr>
        <p:spPr>
          <a:xfrm>
            <a:off x="3081528" y="2688336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883E"/>
                </a:solidFill>
              </a:rPr>
              <a:t>No</a:t>
            </a:r>
            <a:endParaRPr lang="en-US" sz="1150" dirty="0"/>
          </a:p>
        </p:txBody>
      </p:sp>
      <p:sp>
        <p:nvSpPr>
          <p:cNvPr id="110" name="Shape 30"/>
          <p:cNvSpPr/>
          <p:nvPr/>
        </p:nvSpPr>
        <p:spPr>
          <a:xfrm>
            <a:off x="5394960" y="2688336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31"/>
          <p:cNvSpPr/>
          <p:nvPr/>
        </p:nvSpPr>
        <p:spPr>
          <a:xfrm>
            <a:off x="5504688" y="2688336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</a:rPr>
              <a:t>Yes</a:t>
            </a:r>
            <a:endParaRPr lang="en-US" sz="1150" dirty="0"/>
          </a:p>
        </p:txBody>
      </p:sp>
      <p:sp>
        <p:nvSpPr>
          <p:cNvPr id="112" name="Shape 32"/>
          <p:cNvSpPr/>
          <p:nvPr/>
        </p:nvSpPr>
        <p:spPr>
          <a:xfrm>
            <a:off x="411480" y="3136392"/>
            <a:ext cx="256032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33"/>
          <p:cNvSpPr/>
          <p:nvPr/>
        </p:nvSpPr>
        <p:spPr>
          <a:xfrm>
            <a:off x="521208" y="3136392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Custom tools</a:t>
            </a:r>
            <a:endParaRPr lang="en-US" sz="1150" dirty="0"/>
          </a:p>
        </p:txBody>
      </p:sp>
      <p:sp>
        <p:nvSpPr>
          <p:cNvPr id="114" name="Shape 34"/>
          <p:cNvSpPr/>
          <p:nvPr/>
        </p:nvSpPr>
        <p:spPr>
          <a:xfrm>
            <a:off x="2971800" y="3136392"/>
            <a:ext cx="24231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35"/>
          <p:cNvSpPr/>
          <p:nvPr/>
        </p:nvSpPr>
        <p:spPr>
          <a:xfrm>
            <a:off x="3081528" y="3136392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Install each run</a:t>
            </a:r>
            <a:endParaRPr lang="en-US" sz="1150" dirty="0"/>
          </a:p>
        </p:txBody>
      </p:sp>
      <p:sp>
        <p:nvSpPr>
          <p:cNvPr id="116" name="Shape 36"/>
          <p:cNvSpPr/>
          <p:nvPr/>
        </p:nvSpPr>
        <p:spPr>
          <a:xfrm>
            <a:off x="5394960" y="3136392"/>
            <a:ext cx="3337560" cy="429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37"/>
          <p:cNvSpPr/>
          <p:nvPr/>
        </p:nvSpPr>
        <p:spPr>
          <a:xfrm>
            <a:off x="5504688" y="3136392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Pre-installed</a:t>
            </a:r>
            <a:endParaRPr lang="en-US" sz="1150" dirty="0"/>
          </a:p>
        </p:txBody>
      </p:sp>
      <p:sp>
        <p:nvSpPr>
          <p:cNvPr id="118" name="Shape 38"/>
          <p:cNvSpPr/>
          <p:nvPr/>
        </p:nvSpPr>
        <p:spPr>
          <a:xfrm>
            <a:off x="411480" y="3584448"/>
            <a:ext cx="256032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39"/>
          <p:cNvSpPr/>
          <p:nvPr/>
        </p:nvSpPr>
        <p:spPr>
          <a:xfrm>
            <a:off x="521208" y="3584448"/>
            <a:ext cx="243230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1D9"/>
                </a:solidFill>
              </a:rPr>
              <a:t>Best for</a:t>
            </a:r>
            <a:endParaRPr lang="en-US" sz="1150" dirty="0"/>
          </a:p>
        </p:txBody>
      </p:sp>
      <p:sp>
        <p:nvSpPr>
          <p:cNvPr id="120" name="Shape 40"/>
          <p:cNvSpPr/>
          <p:nvPr/>
        </p:nvSpPr>
        <p:spPr>
          <a:xfrm>
            <a:off x="2971800" y="3584448"/>
            <a:ext cx="24231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41"/>
          <p:cNvSpPr/>
          <p:nvPr/>
        </p:nvSpPr>
        <p:spPr>
          <a:xfrm>
            <a:off x="3081528" y="3584448"/>
            <a:ext cx="22951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Standard CI</a:t>
            </a:r>
            <a:endParaRPr lang="en-US" sz="1150" dirty="0"/>
          </a:p>
        </p:txBody>
      </p:sp>
      <p:sp>
        <p:nvSpPr>
          <p:cNvPr id="122" name="Shape 42"/>
          <p:cNvSpPr/>
          <p:nvPr/>
        </p:nvSpPr>
        <p:spPr>
          <a:xfrm>
            <a:off x="5394960" y="3584448"/>
            <a:ext cx="333756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43"/>
          <p:cNvSpPr/>
          <p:nvPr/>
        </p:nvSpPr>
        <p:spPr>
          <a:xfrm>
            <a:off x="5504688" y="3584448"/>
            <a:ext cx="3209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Large builds, private infra</a:t>
            </a:r>
            <a:endParaRPr lang="en-US" sz="1150" dirty="0"/>
          </a:p>
        </p:txBody>
      </p:sp>
      <p:sp>
        <p:nvSpPr>
          <p:cNvPr id="124" name="Text 4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</a:rPr>
              <a:t>Use self-hosted when: private network access · large Docker cache · specialized hardware (GPU) · cost at scale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Manual Triggers — workflow_dispatch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14800" cy="2560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060704"/>
            <a:ext cx="3895344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environment: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choice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options: [staging, production]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dry-run: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boolean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 true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87552"/>
            <a:ext cx="41148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63440" y="987552"/>
            <a:ext cx="54864" cy="2560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60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Trigger from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Actions tab → select workflow → Run workflow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Trigger from CLI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176272"/>
            <a:ext cx="3840480" cy="1234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2249424"/>
            <a:ext cx="362102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workflow run deploy.yml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--field environment=staging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--field dry-run=false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767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Use cases: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On-demand deploy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Hotfix release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Database migration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Manual smoke test</a:t>
            </a:r>
            <a:endParaRPr lang="en-US" sz="1100" dirty="0"/>
          </a:p>
        </p:txBody>
      </p:sp>
      <p:sp>
        <p:nvSpPr>
          <p:cNvPr id="31" name="Shape 13"/>
          <p:cNvSpPr/>
          <p:nvPr/>
        </p:nvSpPr>
        <p:spPr>
          <a:xfrm>
            <a:off x="59436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4"/>
          <p:cNvSpPr/>
          <p:nvPr/>
        </p:nvSpPr>
        <p:spPr>
          <a:xfrm>
            <a:off x="59436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On-demand deploy</a:t>
            </a:r>
            <a:endParaRPr lang="en-US" sz="1100" dirty="0"/>
          </a:p>
        </p:txBody>
      </p:sp>
      <p:sp>
        <p:nvSpPr>
          <p:cNvPr id="33" name="Shape 15"/>
          <p:cNvSpPr/>
          <p:nvPr/>
        </p:nvSpPr>
        <p:spPr>
          <a:xfrm>
            <a:off x="260604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6"/>
          <p:cNvSpPr/>
          <p:nvPr/>
        </p:nvSpPr>
        <p:spPr>
          <a:xfrm>
            <a:off x="260604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Hotfix release</a:t>
            </a:r>
            <a:endParaRPr lang="en-US" sz="1100" dirty="0"/>
          </a:p>
        </p:txBody>
      </p:sp>
      <p:sp>
        <p:nvSpPr>
          <p:cNvPr id="35" name="Shape 17"/>
          <p:cNvSpPr/>
          <p:nvPr/>
        </p:nvSpPr>
        <p:spPr>
          <a:xfrm>
            <a:off x="461772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8"/>
          <p:cNvSpPr/>
          <p:nvPr/>
        </p:nvSpPr>
        <p:spPr>
          <a:xfrm>
            <a:off x="461772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Database migration</a:t>
            </a:r>
            <a:endParaRPr lang="en-US" sz="1100" dirty="0"/>
          </a:p>
        </p:txBody>
      </p:sp>
      <p:sp>
        <p:nvSpPr>
          <p:cNvPr id="37" name="Shape 19"/>
          <p:cNvSpPr/>
          <p:nvPr/>
        </p:nvSpPr>
        <p:spPr>
          <a:xfrm>
            <a:off x="6629400" y="4114800"/>
            <a:ext cx="182880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0"/>
          <p:cNvSpPr/>
          <p:nvPr/>
        </p:nvSpPr>
        <p:spPr>
          <a:xfrm>
            <a:off x="6629400" y="4114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Manual smoke test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8A6FF"/>
                </a:solidFill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Module 2 Exercise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1D9"/>
                </a:solidFill>
              </a:rPr>
              <a:t>Build a complete CI workflow from scratch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64792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 .github/workflows/ci.yml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lint job  (ruff check src/)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2432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 job with matrix  (Python 3.10, 3.11, 3.12)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163824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build job  —  needs: [lint, test]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3016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5701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deploy-staging  —  only on main branch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96512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watch PR checks enforce the gates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562856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48970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manually:  gh workflow run ci.yml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⏱ ~30 min   |   modules/02-github-actions/exercises/exercise.md   |   Stuck? → solutions/02-ci-workflow/</a:t>
            </a:r>
            <a:endParaRPr lang="en-US" sz="1000" dirty="0"/>
          </a:p>
        </p:txBody>
      </p:sp>
      <p:sp>
        <p:nvSpPr>
          <p:cNvPr id="46" name="Shape 10"/>
          <p:cNvSpPr/>
          <p:nvPr/>
        </p:nvSpPr>
        <p:spPr>
          <a:xfrm>
            <a:off x="411480" y="2697480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1"/>
          <p:cNvSpPr/>
          <p:nvPr/>
        </p:nvSpPr>
        <p:spPr>
          <a:xfrm>
            <a:off x="4114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868680" y="262432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 job with matrix  (Python 3.10, 3.11, 3.12)</a:t>
            </a:r>
            <a:endParaRPr lang="en-US" sz="1300" dirty="0"/>
          </a:p>
        </p:txBody>
      </p:sp>
      <p:sp>
        <p:nvSpPr>
          <p:cNvPr id="49" name="Shape 13"/>
          <p:cNvSpPr/>
          <p:nvPr/>
        </p:nvSpPr>
        <p:spPr>
          <a:xfrm>
            <a:off x="411480" y="3163824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4"/>
          <p:cNvSpPr/>
          <p:nvPr/>
        </p:nvSpPr>
        <p:spPr>
          <a:xfrm>
            <a:off x="41148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868680" y="30906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build job  —  needs: [lint, test]</a:t>
            </a:r>
            <a:endParaRPr lang="en-US" sz="1300" dirty="0"/>
          </a:p>
        </p:txBody>
      </p:sp>
      <p:sp>
        <p:nvSpPr>
          <p:cNvPr id="52" name="Shape 16"/>
          <p:cNvSpPr/>
          <p:nvPr/>
        </p:nvSpPr>
        <p:spPr>
          <a:xfrm>
            <a:off x="411480" y="363016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7"/>
          <p:cNvSpPr/>
          <p:nvPr/>
        </p:nvSpPr>
        <p:spPr>
          <a:xfrm>
            <a:off x="4114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868680" y="355701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deploy-staging  —  only on main branch</a:t>
            </a:r>
            <a:endParaRPr lang="en-US" sz="1300" dirty="0"/>
          </a:p>
        </p:txBody>
      </p:sp>
      <p:sp>
        <p:nvSpPr>
          <p:cNvPr id="55" name="Shape 19"/>
          <p:cNvSpPr/>
          <p:nvPr/>
        </p:nvSpPr>
        <p:spPr>
          <a:xfrm>
            <a:off x="411480" y="4096512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0"/>
          <p:cNvSpPr/>
          <p:nvPr/>
        </p:nvSpPr>
        <p:spPr>
          <a:xfrm>
            <a:off x="41148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7" name="Text 21"/>
          <p:cNvSpPr/>
          <p:nvPr/>
        </p:nvSpPr>
        <p:spPr>
          <a:xfrm>
            <a:off x="868680" y="402336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watch PR checks enforce the gates</a:t>
            </a:r>
            <a:endParaRPr lang="en-US" sz="1300" dirty="0"/>
          </a:p>
        </p:txBody>
      </p:sp>
      <p:sp>
        <p:nvSpPr>
          <p:cNvPr id="58" name="Shape 22"/>
          <p:cNvSpPr/>
          <p:nvPr/>
        </p:nvSpPr>
        <p:spPr>
          <a:xfrm>
            <a:off x="411480" y="4562856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3"/>
          <p:cNvSpPr/>
          <p:nvPr/>
        </p:nvSpPr>
        <p:spPr>
          <a:xfrm>
            <a:off x="41148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0" name="Text 24"/>
          <p:cNvSpPr/>
          <p:nvPr/>
        </p:nvSpPr>
        <p:spPr>
          <a:xfrm>
            <a:off x="868680" y="448970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manually:  gh workflow run ci.yml</a:t>
            </a:r>
            <a:endParaRPr lang="en-US" sz="1300" dirty="0"/>
          </a:p>
        </p:txBody>
      </p:sp>
      <p:sp>
        <p:nvSpPr>
          <p:cNvPr id="61" name="Shape 2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⏱ ~30 min   |   modules/02-github-actions/exercises/exercise.md   |   Stuck? → solutions/02-ci-workflow/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Break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697480"/>
            <a:ext cx="274320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2697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1D9"/>
                </a:solidFill>
              </a:rPr>
              <a:t>10 minutes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</a:rPr>
              <a:t>Grab coffee · Ask questions · Browse resources/cheatsheet.md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F0883E"/>
                </a:solidFill>
              </a:rPr>
              <a:t>MODULE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Day-to-Day Operations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1D9"/>
                </a:solidFill>
              </a:rPr>
              <a:t>&amp; Debugging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520440"/>
            <a:ext cx="1737360" cy="3840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30 minutes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Monitoring Workflow Runs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54864" cy="3886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In the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Actions tab → filter by workflow, branch, status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Click run → job graph with status indicators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Click job → step logs with timestamps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$GITHUB_STEP_SUMMARY → rich markdown on summary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840480" cy="171907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3090672"/>
            <a:ext cx="362102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Re-run options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rerun &lt;id&gt; --failed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rerun &lt;id&gt; --failed --debug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cancel &lt;id&gt;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54864" cy="3886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60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Via gh CLI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3840480" cy="327355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0328" y="1536192"/>
            <a:ext cx="3621024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list --workflow ci.yml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list --status failure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view &lt;id&gt;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view &lt;id&gt; --log-failed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view &lt;id&gt; --log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watch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Artifacts — Persist &amp; Share Build Outputs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14800" cy="21214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060704"/>
            <a:ext cx="3895344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(in any job)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actions/upload-artifact@v4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always()          # capture even on failure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test-results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test-results.xml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retention-days: 30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3218688"/>
            <a:ext cx="4114800" cy="1691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3291840"/>
            <a:ext cx="3895344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(in another job)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actions/download-artifact@v4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test-results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./results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download &lt;id&gt; --name test-results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54864" cy="3886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60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Key 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Each job gets a fresh VM — artifacts are the bridge between jobs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if: always() — capture outputs even when tests fail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Default retention: 90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Use artifacts for: test results, dist/, logs, coverage reports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Debugging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Enable Debug Logging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52728"/>
            <a:ext cx="8321040" cy="80467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325880"/>
            <a:ext cx="81015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secret set ACTIONS_STEP_DEBUG --body "true"    # verbose step output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rerun &lt;id&gt; --failed --debug                # or: per-run debug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secret delete ACTIONS_STEP_DEBUG               # clean up after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832104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</a:rPr>
              <a:t>Common Failure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83E"/>
                </a:solidFill>
              </a:rPr>
              <a:t>Permission denied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2578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→  Add permissions: to the job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83E"/>
                </a:solidFill>
              </a:rPr>
              <a:t>Secret empty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49040" y="29809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→  Check name, scope, environment match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83E"/>
                </a:solidFill>
              </a:rPr>
              <a:t>Job skipped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4904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→  Check if: — use refs/heads/main not 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883E"/>
                </a:solidFill>
              </a:rPr>
              <a:t>Cache miss every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49040" y="37856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→  Check hashFiles() pattern matches your lockfile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251960"/>
            <a:ext cx="8321040" cy="7132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4325112"/>
            <a:ext cx="8101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"::notice::Deploy started"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"::warning::Approaching rate limit"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"::error file=src/app.py,line=10::Syntax error"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"::group::Logs" &amp;&amp; cat build.log &amp;&amp; echo "::endgroup::"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0883E"/>
                </a:solidFill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Module 3 Exercise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1D9"/>
                </a:solidFill>
              </a:rPr>
              <a:t>Trigger a failure, debug it, fix it, download artifacts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64792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intentional failing test to src/test_app.py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open a PR — watch CI fail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2432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failure:  gh run view --log-failed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163824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 debug:  gh secret set ACTIONS_STEP_DEBUG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30168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5701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Re-run:  gh run rerun --failed --debug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96512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test and push — watch all checks go green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562856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48970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artifacts:  gh run download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⏱ ~15 min   |   modules/03-operations-debugging/exercises/exercise.md   |   Stuck? → solutions/03-debugging/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12801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4864" cy="1234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Collaboration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PRs are the unit of collaboration — use them for everything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Branch protection + CODEOWNERS = automated code review standards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gh CLI brings the full GitHub experience into your terminal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59152"/>
            <a:ext cx="8321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54864" cy="1234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Your Jenkinsfile becomes a YAML workflow — same concepts, new syntax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Jobs run in parallel by default; use needs: to sequence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Environments replace Jenkins manual approvals — no plugin required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712464"/>
            <a:ext cx="8321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712464"/>
            <a:ext cx="54864" cy="12344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7673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96512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gh run is your first debugging tool — faster than reading the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ACTIONS_STEP_DEBUG reveals what normal logs hide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if: always() + upload-artifact = never lose test results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Resources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64008" cy="10515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069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Workshop Repo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github.com/ShmuelMax100/github-workshop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resources/cheatsheet.md  ·  All guides linked from README.md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4069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Docs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069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386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Actions Marketplace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679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github.com/marketplace?type=actions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36392"/>
            <a:ext cx="4069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91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CLI Manual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cli.github.com/manual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36392"/>
            <a:ext cx="4069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191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 — run Actions locally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83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github.com/nektos/act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 —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3693</Words>
  <Application>Microsoft Office PowerPoint</Application>
  <PresentationFormat>On-screen Show (16:9)</PresentationFormat>
  <Paragraphs>788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Workshop — SecuriThings</dc:title>
  <dc:subject>PptxGenJS Presentation</dc:subject>
  <dc:creator>PptxGenJS</dc:creator>
  <cp:lastModifiedBy>Shmuel Max</cp:lastModifiedBy>
  <cp:revision>1</cp:revision>
  <dcterms:created xsi:type="dcterms:W3CDTF">2026-04-29T07:29:38Z</dcterms:created>
  <dcterms:modified xsi:type="dcterms:W3CDTF">2026-04-29T07:34:14Z</dcterms:modified>
</cp:coreProperties>
</file>